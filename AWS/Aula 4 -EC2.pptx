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5" r:id="rId19"/>
    <p:sldId id="276" r:id="rId20"/>
    <p:sldId id="277" r:id="rId21"/>
    <p:sldId id="273" r:id="rId22"/>
    <p:sldId id="278" r:id="rId23"/>
    <p:sldId id="279" r:id="rId24"/>
    <p:sldId id="274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CD644-4092-378D-7BE3-3C56478AF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04960A-9B34-FEE8-41D7-307474055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4CF42C-17A2-EF9B-BFDF-047A23DBD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62B4F2-28FD-64F7-0631-055FFD380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9EF4AF-7DD4-63F9-AC3B-98F162589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641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F77CF-CEA8-8380-43B2-93F8FB39B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012FBC-4781-FF17-281C-57CEE2A8D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A77937-8260-9C0E-EFCC-9811C2CD9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0A6814-CBF8-1889-07B2-B9478BC2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EB9BC0-16D0-1AF3-DA64-F381ECA66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526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18CBE-381E-7F54-113B-4D1CCFF0E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5111FA-1DFE-5AAE-27C4-A9BE65C85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D0840B-AF26-F153-1466-F0076AED4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E61183-B637-0484-D2EF-F8E010B6A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3DCCA9-727D-2674-1E8F-0646BDE0B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662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19BBD-A44A-9172-0CA3-814197876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53EB82-12AB-4404-302A-3D3C15BF9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BCB2AF-061D-C7A7-3DCE-61BAFB073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CF8E1D-04D5-89BE-62C2-1F23A6F84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ABA567-3CE2-2A24-BE12-A9416947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0BFB9E5-D1AE-C119-A058-6362E718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7369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2C48F2-A315-F4A3-1DEE-ACED44E7D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3DE686-6D50-0C9D-0889-0E6BFB05A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29A7543-7A29-8E51-1128-D54A9623C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21D7308-EC4D-6DEF-B8B5-CB9A4C0C2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DB1BFD-F409-2918-B03F-A5217EEEE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2D1C0E-5EC3-D577-003D-D7A018F94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6A13D85-FAF8-927E-739B-47ACCE8BB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76134CB-8D5B-19C8-0923-22AA493F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043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EE96F-8AF6-FAC0-CE98-D0E5A1802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A2B5306-897A-926B-1FC1-58338F49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2B22686-3F47-3FE6-366E-90E2777A8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4D28479-6671-AE97-71F4-6C08F64B7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2572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849237-3E5C-94EA-8A4A-6386A2EFD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3C018C6-6648-7C4A-489B-312E11FC0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30EA51-79A3-A212-04C3-70D7B6EB4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748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E2B33E-9E61-A2A4-33E9-8E36710B5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F50E02-ADA3-13F6-FE09-743FFD3A8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5A41191-8F4E-05FA-0600-BD54C9267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E9FEEA-6621-71D4-9540-81BC15D9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5A06B3-5580-DF72-9A7E-26BF04834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6138C3-F025-C09B-A61B-3F4E02130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1124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CCFB9-8BB1-1D48-6247-2C03651C2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2207937-8A3E-C6F3-7F58-19863DEF0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BD931B-FE96-9F38-D8F0-069E7B0CA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D92DF6-953F-5D30-C355-75D3C3E9D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2713EB-71E3-6511-FCC7-CBA6BAFE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9A0330-CE42-4344-5BA8-114AE85AD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781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BB1E8A-4E6A-3BA1-5705-3CCC076D5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54A311-C89B-FFE2-FABC-69D831544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D27023-10B7-8BC8-00A7-7DC0A5BC7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2D86E5-3D5F-F127-B6FE-EBEB7CA2D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0E8156-2179-DD5C-DE2F-44C38FC3F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500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00D2C3-5510-FF6E-8281-2F82F8BF04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84DAA0-9886-CE61-39D8-87BF43086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EEC10A-0C32-E4E9-E4BB-F5B61CAD0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CF5164-4917-978E-369A-E84FA54D7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0CACAF-E6D3-6669-BF3B-223D71BB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451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A31C87A-3684-E8DF-6057-657E58F0B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C36D1A-A2D4-81F0-E4DC-A1B2297B5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BCEA38-76D5-2195-4B84-CA79431B1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0D7BE4-36FC-C8D3-FAD2-5BBA90538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E82AD7-F7A6-FEFD-5368-388FC6942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3599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signin.aws.amazon.com/signup?request_type=register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CE358-4775-177E-FAC8-AFF18BC5D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Introduçao</a:t>
            </a:r>
            <a:r>
              <a:rPr lang="pt-BR" dirty="0"/>
              <a:t> ao </a:t>
            </a:r>
            <a:r>
              <a:rPr lang="pt-BR" dirty="0" err="1"/>
              <a:t>Amazon</a:t>
            </a:r>
            <a:r>
              <a:rPr lang="pt-BR" dirty="0"/>
              <a:t> EC2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335086-ED07-3334-31F3-9FE752FC2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90174"/>
            <a:ext cx="9144000" cy="521906"/>
          </a:xfrm>
        </p:spPr>
        <p:txBody>
          <a:bodyPr/>
          <a:lstStyle/>
          <a:p>
            <a:pPr algn="r"/>
            <a:r>
              <a:rPr lang="pt-BR" dirty="0"/>
              <a:t>Prof.: Dionizio Porfírio</a:t>
            </a:r>
          </a:p>
        </p:txBody>
      </p:sp>
    </p:spTree>
    <p:extLst>
      <p:ext uri="{BB962C8B-B14F-4D97-AF65-F5344CB8AC3E}">
        <p14:creationId xmlns:p14="http://schemas.microsoft.com/office/powerpoint/2010/main" val="3569494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32EFA-80F8-2146-B17F-35E0ACF2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Sumário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0E61E9-E64C-8915-E132-5741D6099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Introdução ao </a:t>
            </a:r>
            <a:r>
              <a:rPr lang="pt-BR" dirty="0" err="1"/>
              <a:t>Amazon</a:t>
            </a:r>
            <a:r>
              <a:rPr lang="pt-BR" dirty="0"/>
              <a:t> EC2?</a:t>
            </a:r>
          </a:p>
          <a:p>
            <a:r>
              <a:rPr lang="pt-BR" dirty="0"/>
              <a:t>Ciclos de vida da instância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6674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B489E-8CF7-0473-9621-1451E2088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Amazon</a:t>
            </a:r>
            <a:r>
              <a:rPr lang="pt-BR" dirty="0"/>
              <a:t> EC2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895C51-8596-AAA7-F5AE-FB73102B4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1592" cy="435133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dirty="0"/>
              <a:t>O </a:t>
            </a:r>
            <a:r>
              <a:rPr lang="pt-BR" dirty="0" err="1"/>
              <a:t>Amazon</a:t>
            </a:r>
            <a:r>
              <a:rPr lang="pt-BR" dirty="0"/>
              <a:t> </a:t>
            </a:r>
            <a:r>
              <a:rPr lang="pt-BR" dirty="0" err="1"/>
              <a:t>Elastic</a:t>
            </a:r>
            <a:r>
              <a:rPr lang="pt-BR" dirty="0"/>
              <a:t> Compute Cloud (</a:t>
            </a:r>
            <a:r>
              <a:rPr lang="pt-BR" dirty="0" err="1"/>
              <a:t>Amazon</a:t>
            </a:r>
            <a:r>
              <a:rPr lang="pt-BR" dirty="0"/>
              <a:t> EC2) é um serviço da Web que fornece capacidade computacional redimensionável (literalmente servidores em datacenters da </a:t>
            </a:r>
            <a:r>
              <a:rPr lang="pt-BR" dirty="0" err="1"/>
              <a:t>Amazon's</a:t>
            </a:r>
            <a:r>
              <a:rPr lang="pt-BR" dirty="0"/>
              <a:t>) que pode ser usada para criar e hospedar sistemas de software.</a:t>
            </a:r>
          </a:p>
          <a:p>
            <a:pPr algn="just"/>
            <a:r>
              <a:rPr lang="pt-BR" dirty="0"/>
              <a:t>Disponibiliza mais de 750 tipos de instâncias, trazendo várias opções de processadores, armazenamentos, redes, sistemas operacionais, entre outros.</a:t>
            </a:r>
          </a:p>
          <a:p>
            <a:pPr algn="just"/>
            <a:r>
              <a:rPr lang="pt-BR" dirty="0"/>
              <a:t>Uma instância do </a:t>
            </a:r>
            <a:r>
              <a:rPr lang="pt-BR" dirty="0" err="1"/>
              <a:t>Amazon</a:t>
            </a:r>
            <a:r>
              <a:rPr lang="pt-BR" dirty="0"/>
              <a:t> EC2, equivale a uma máquina virtual em um ambiente </a:t>
            </a:r>
            <a:r>
              <a:rPr lang="pt-BR" dirty="0" err="1"/>
              <a:t>on-premises</a:t>
            </a:r>
            <a:r>
              <a:rPr lang="pt-BR" dirty="0"/>
              <a:t> (utilizada em um </a:t>
            </a:r>
            <a:r>
              <a:rPr lang="pt-BR" dirty="0" err="1"/>
              <a:t>Hypervisor</a:t>
            </a:r>
            <a:r>
              <a:rPr lang="pt-BR" dirty="0"/>
              <a:t>).</a:t>
            </a:r>
          </a:p>
          <a:p>
            <a:pPr algn="just"/>
            <a:r>
              <a:rPr lang="pt-BR" dirty="0"/>
              <a:t>Atua em diferentes modalidades, como </a:t>
            </a:r>
            <a:r>
              <a:rPr lang="pt-BR" dirty="0" err="1"/>
              <a:t>sob-demanda</a:t>
            </a:r>
            <a:r>
              <a:rPr lang="pt-BR" dirty="0"/>
              <a:t>, reservadas, spot, entre outras.</a:t>
            </a:r>
          </a:p>
          <a:p>
            <a:pPr algn="just"/>
            <a:endParaRPr lang="pt-BR" dirty="0"/>
          </a:p>
        </p:txBody>
      </p:sp>
      <p:pic>
        <p:nvPicPr>
          <p:cNvPr id="1026" name="Picture 2" descr="Introduction to Amazon Elastic Compute Cloud (EC2) | by Meriem Terki |  Medium">
            <a:extLst>
              <a:ext uri="{FF2B5EF4-FFF2-40B4-BE49-F238E27FC236}">
                <a16:creationId xmlns:a16="http://schemas.microsoft.com/office/drawing/2014/main" id="{F97FA32B-80AC-DF91-893F-2B290BCA7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094" y="1731874"/>
            <a:ext cx="5296090" cy="3394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37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D5D1A-0C81-CDC0-1944-4EEA3286C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Amazon</a:t>
            </a:r>
            <a:r>
              <a:rPr lang="pt-BR" dirty="0"/>
              <a:t> EC2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418352-F311-0B66-38E6-D319DF4E3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177016" cy="307333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2000" dirty="0"/>
              <a:t>O </a:t>
            </a:r>
            <a:r>
              <a:rPr lang="pt-BR" sz="2000" dirty="0" err="1"/>
              <a:t>Amazon</a:t>
            </a:r>
            <a:r>
              <a:rPr lang="pt-BR" sz="2000" dirty="0"/>
              <a:t> EC2 oferece uma ampla seleção de tipos de instâncias otimizadas para atender a diferentes casos de uso.</a:t>
            </a:r>
          </a:p>
          <a:p>
            <a:pPr algn="just"/>
            <a:r>
              <a:rPr lang="pt-BR" sz="2000" dirty="0"/>
              <a:t>Os tipos de instâncias consistem em várias combinações de CPU, memória, armazenamento e capacidade de rede e oferecem flexibilidade de escolha da composição adequada de recursos para os seus aplicativos. </a:t>
            </a:r>
          </a:p>
          <a:p>
            <a:pPr algn="just"/>
            <a:r>
              <a:rPr lang="pt-BR" sz="2000" dirty="0"/>
              <a:t>Cada tipo de instância inclui um ou mais tamanhos de instância, permitindo a escalabilidade de seus recursos de acordo com os requisitos da </a:t>
            </a:r>
            <a:r>
              <a:rPr lang="pt-BR" sz="2000" dirty="0" err="1"/>
              <a:t>workload</a:t>
            </a:r>
            <a:r>
              <a:rPr lang="pt-BR" sz="2000" dirty="0"/>
              <a:t> a ser executada. </a:t>
            </a:r>
          </a:p>
          <a:p>
            <a:pPr algn="just"/>
            <a:r>
              <a:rPr lang="pt-BR" sz="2000" dirty="0"/>
              <a:t>As instâncias são dividas por categorias, sendo instâncias para uso geral, otimizadas para computação, otimizadas para memória, computação acelerada, otimizadas para armazenamento e otimizadas para HPC.</a:t>
            </a:r>
          </a:p>
        </p:txBody>
      </p:sp>
      <p:pic>
        <p:nvPicPr>
          <p:cNvPr id="2050" name="Picture 2" descr="Aprenda Noções Básicas do Amazon EC2 | Computação">
            <a:extLst>
              <a:ext uri="{FF2B5EF4-FFF2-40B4-BE49-F238E27FC236}">
                <a16:creationId xmlns:a16="http://schemas.microsoft.com/office/drawing/2014/main" id="{E346CCB3-40F8-6ED8-0FFD-79EED5B08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274" y="4293126"/>
            <a:ext cx="7267575" cy="2793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6038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E06A1-2009-83EA-396A-44E871139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Ciclos de vida da instância</a:t>
            </a:r>
          </a:p>
        </p:txBody>
      </p:sp>
      <p:pic>
        <p:nvPicPr>
          <p:cNvPr id="13" name="Espaço Reservado para Conteúdo 12">
            <a:extLst>
              <a:ext uri="{FF2B5EF4-FFF2-40B4-BE49-F238E27FC236}">
                <a16:creationId xmlns:a16="http://schemas.microsoft.com/office/drawing/2014/main" id="{E03444E0-30C8-7D71-15DA-AE48966531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9186" y="1503328"/>
            <a:ext cx="6736214" cy="489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368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C5E9E-3B84-3B30-31CE-383D811F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Ciclos de vida da instância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2F3575E-4B46-58E7-A5B9-075637C04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493" y="1690688"/>
            <a:ext cx="9981103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81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1ED40-0994-DE82-0CE5-F28F95BCE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uma instância no AWS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6B3DB9E-5BAC-E261-E69F-A57D698B7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360" y="1527048"/>
            <a:ext cx="3649158" cy="450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225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E76670-B448-CAF6-7E14-6BE20BB40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Criar uma conta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5015F2-42BB-2E79-6DB0-52EFF0800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27090" cy="4351338"/>
          </a:xfrm>
        </p:spPr>
        <p:txBody>
          <a:bodyPr/>
          <a:lstStyle/>
          <a:p>
            <a:r>
              <a:rPr lang="pt-BR" dirty="0">
                <a:hlinkClick r:id="rId2"/>
              </a:rPr>
              <a:t>https://signin.aws.amazon.com/signup?request_type=register</a:t>
            </a:r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5D0E26A-42B9-CD7C-EA50-CFC22C8ECA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30" t="5324" r="19208" b="26164"/>
          <a:stretch>
            <a:fillRect/>
          </a:stretch>
        </p:blipFill>
        <p:spPr>
          <a:xfrm>
            <a:off x="4965290" y="1027906"/>
            <a:ext cx="7170515" cy="546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823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6B3F5B-2047-4064-A35F-3EBEF771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Criar uma conta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6F123DD-6E17-8757-5AAC-51E01888C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3874" t="4366" r="16921" b="15192"/>
          <a:stretch>
            <a:fillRect/>
          </a:stretch>
        </p:blipFill>
        <p:spPr>
          <a:xfrm>
            <a:off x="5633884" y="102837"/>
            <a:ext cx="5220929" cy="661441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6FAA56B6-7431-55C5-FD1D-4A67EF6F643A}"/>
              </a:ext>
            </a:extLst>
          </p:cNvPr>
          <p:cNvSpPr/>
          <p:nvPr/>
        </p:nvSpPr>
        <p:spPr>
          <a:xfrm>
            <a:off x="8239760" y="1986280"/>
            <a:ext cx="1097280" cy="132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5EFA1DF-38BE-08D9-22AE-C501FE07C818}"/>
              </a:ext>
            </a:extLst>
          </p:cNvPr>
          <p:cNvSpPr/>
          <p:nvPr/>
        </p:nvSpPr>
        <p:spPr>
          <a:xfrm>
            <a:off x="8940800" y="2875280"/>
            <a:ext cx="1097280" cy="132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C6F9A61-D238-0A68-3528-616EB5692B9F}"/>
              </a:ext>
            </a:extLst>
          </p:cNvPr>
          <p:cNvSpPr/>
          <p:nvPr/>
        </p:nvSpPr>
        <p:spPr>
          <a:xfrm>
            <a:off x="8397240" y="3718561"/>
            <a:ext cx="1000760" cy="132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3C9AE2C-F837-9423-D66C-21A652EF76C8}"/>
              </a:ext>
            </a:extLst>
          </p:cNvPr>
          <p:cNvSpPr/>
          <p:nvPr/>
        </p:nvSpPr>
        <p:spPr>
          <a:xfrm>
            <a:off x="8239760" y="4533263"/>
            <a:ext cx="1000760" cy="132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E94CA6D-90A8-F4DE-2CE9-BB38DFBEFB2D}"/>
              </a:ext>
            </a:extLst>
          </p:cNvPr>
          <p:cNvSpPr/>
          <p:nvPr/>
        </p:nvSpPr>
        <p:spPr>
          <a:xfrm>
            <a:off x="8239760" y="4105591"/>
            <a:ext cx="1000760" cy="132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169BD07-C05E-7DA8-03F7-2F68A4F8DBD8}"/>
              </a:ext>
            </a:extLst>
          </p:cNvPr>
          <p:cNvSpPr/>
          <p:nvPr/>
        </p:nvSpPr>
        <p:spPr>
          <a:xfrm>
            <a:off x="8239760" y="5429996"/>
            <a:ext cx="1000760" cy="132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9558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32DBA0-4E71-5B5F-7D21-C670DDA40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45" y="276348"/>
            <a:ext cx="10515600" cy="1325563"/>
          </a:xfrm>
        </p:spPr>
        <p:txBody>
          <a:bodyPr/>
          <a:lstStyle/>
          <a:p>
            <a:r>
              <a:rPr lang="pt-BR" dirty="0"/>
              <a:t>Criar uma conta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9365A04-2CA6-DBC6-247A-744E82A1E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3542" y="617714"/>
            <a:ext cx="8083322" cy="562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313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C0205-F555-3C93-2EC1-CF2E4D87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292"/>
            <a:ext cx="10515600" cy="1325563"/>
          </a:xfrm>
        </p:spPr>
        <p:txBody>
          <a:bodyPr/>
          <a:lstStyle/>
          <a:p>
            <a:r>
              <a:rPr lang="pt-BR" dirty="0"/>
              <a:t>Criar uma conta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6B20721-DF58-AF7C-49D5-95EB618F3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5274" t="13143" r="23730" b="17527"/>
          <a:stretch>
            <a:fillRect/>
          </a:stretch>
        </p:blipFill>
        <p:spPr>
          <a:xfrm>
            <a:off x="6096000" y="443856"/>
            <a:ext cx="4332366" cy="629122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B4CB914-9F93-1B9D-1303-7FC6EE50B2C4}"/>
              </a:ext>
            </a:extLst>
          </p:cNvPr>
          <p:cNvSpPr/>
          <p:nvPr/>
        </p:nvSpPr>
        <p:spPr>
          <a:xfrm>
            <a:off x="8558784" y="4742688"/>
            <a:ext cx="1036320" cy="365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281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487731-B67E-730B-71C9-E96201B12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" y="202565"/>
            <a:ext cx="10515600" cy="1325563"/>
          </a:xfrm>
        </p:spPr>
        <p:txBody>
          <a:bodyPr/>
          <a:lstStyle/>
          <a:p>
            <a:r>
              <a:rPr lang="pt-BR" dirty="0"/>
              <a:t>Criar uma conta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181BC5A-E6E0-F9A2-A1B3-892449CAE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5424" t="10346" r="24465" b="24977"/>
          <a:stretch>
            <a:fillRect/>
          </a:stretch>
        </p:blipFill>
        <p:spPr>
          <a:xfrm>
            <a:off x="172719" y="1383505"/>
            <a:ext cx="3810001" cy="517338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419DD4AC-B552-745E-B354-C58325D9CF74}"/>
              </a:ext>
            </a:extLst>
          </p:cNvPr>
          <p:cNvSpPr/>
          <p:nvPr/>
        </p:nvSpPr>
        <p:spPr>
          <a:xfrm>
            <a:off x="1188720" y="5444490"/>
            <a:ext cx="948690" cy="144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9832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0318C-8239-4988-D27F-BCA35E7CE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Criar uma conta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B7A1580-4DC4-1849-6ECB-D9275CAE9A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0113" y="1825625"/>
            <a:ext cx="65717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062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B7D9F-700B-08A5-7ACD-112E9DD77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 inicial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E5169EA-2A3E-945E-DEBE-611BEFDA6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84" b="67005"/>
          <a:stretch>
            <a:fillRect/>
          </a:stretch>
        </p:blipFill>
        <p:spPr>
          <a:xfrm>
            <a:off x="957836" y="1497648"/>
            <a:ext cx="10930568" cy="5258752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BAD5CCF-1592-24D6-33E0-D7B1D00B4A50}"/>
              </a:ext>
            </a:extLst>
          </p:cNvPr>
          <p:cNvSpPr/>
          <p:nvPr/>
        </p:nvSpPr>
        <p:spPr>
          <a:xfrm>
            <a:off x="3159761" y="4775200"/>
            <a:ext cx="436879" cy="213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949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3B103-DA19-6CEE-C77C-637F49A06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uma EC2</a:t>
            </a: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30C8E480-30B9-7352-D1AE-166FA23D4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2075" y="1825625"/>
            <a:ext cx="9267849" cy="4351338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A25BCA4D-0F46-17E8-36DC-CFEA25956267}"/>
              </a:ext>
            </a:extLst>
          </p:cNvPr>
          <p:cNvSpPr/>
          <p:nvPr/>
        </p:nvSpPr>
        <p:spPr>
          <a:xfrm>
            <a:off x="8178801" y="3429000"/>
            <a:ext cx="1188720" cy="325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46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024838-0C1F-4EA2-86AE-CE8649D8B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uma EC2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DE5B0E9-EEBC-20EA-41FF-298D282D31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3755" y="1500504"/>
            <a:ext cx="10826578" cy="508317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E92590F-9A6B-78F0-89AB-971D73233291}"/>
              </a:ext>
            </a:extLst>
          </p:cNvPr>
          <p:cNvSpPr/>
          <p:nvPr/>
        </p:nvSpPr>
        <p:spPr>
          <a:xfrm>
            <a:off x="9814560" y="4358640"/>
            <a:ext cx="1945773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7274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A64C9-178C-49AD-E09D-C7634B51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uma EC2</a:t>
            </a: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45FBB58B-211A-DDC6-DD5D-6C27A69D8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059"/>
          <a:stretch>
            <a:fillRect/>
          </a:stretch>
        </p:blipFill>
        <p:spPr>
          <a:xfrm>
            <a:off x="695960" y="1351279"/>
            <a:ext cx="8437880" cy="521654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9116936A-8B4F-A0D0-C908-580A47819318}"/>
              </a:ext>
            </a:extLst>
          </p:cNvPr>
          <p:cNvSpPr/>
          <p:nvPr/>
        </p:nvSpPr>
        <p:spPr>
          <a:xfrm>
            <a:off x="1219200" y="1747681"/>
            <a:ext cx="1290320" cy="5078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66DE63A-6EB2-4A26-73E9-1F3402F294CC}"/>
              </a:ext>
            </a:extLst>
          </p:cNvPr>
          <p:cNvSpPr/>
          <p:nvPr/>
        </p:nvSpPr>
        <p:spPr>
          <a:xfrm>
            <a:off x="3403600" y="4054001"/>
            <a:ext cx="762000" cy="1025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499B8B6-2FE0-6E17-FE3A-C05CD90C4444}"/>
              </a:ext>
            </a:extLst>
          </p:cNvPr>
          <p:cNvSpPr/>
          <p:nvPr/>
        </p:nvSpPr>
        <p:spPr>
          <a:xfrm>
            <a:off x="1219200" y="5080000"/>
            <a:ext cx="7630160" cy="8432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7111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6A54F-2C1A-26E8-3534-DC5BB005F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70A46F29-B389-70B4-CD24-52BC638B3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19" y="1152207"/>
            <a:ext cx="10478962" cy="455358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185002A-C1A1-E043-C13D-3A5C1DA8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uma EC2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A4116BD-8A5D-80A6-94DB-BF038C9E88F7}"/>
              </a:ext>
            </a:extLst>
          </p:cNvPr>
          <p:cNvSpPr/>
          <p:nvPr/>
        </p:nvSpPr>
        <p:spPr>
          <a:xfrm>
            <a:off x="985520" y="1545513"/>
            <a:ext cx="7548880" cy="16853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2B5C67F-03AB-C09B-6600-82B15610594A}"/>
              </a:ext>
            </a:extLst>
          </p:cNvPr>
          <p:cNvSpPr/>
          <p:nvPr/>
        </p:nvSpPr>
        <p:spPr>
          <a:xfrm>
            <a:off x="7772400" y="4799488"/>
            <a:ext cx="2072640" cy="513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3826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B52E0-E8F9-C7D7-9466-71D1FA5E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3D6F771-28C8-F909-E51B-F7ADFC542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117" y="1635760"/>
            <a:ext cx="5293977" cy="51652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65745A1-A7BF-1230-4DE1-9AB4100B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095"/>
            <a:ext cx="10515600" cy="1325563"/>
          </a:xfrm>
        </p:spPr>
        <p:txBody>
          <a:bodyPr/>
          <a:lstStyle/>
          <a:p>
            <a:r>
              <a:rPr lang="pt-BR" dirty="0"/>
              <a:t>Criando uma EC2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E03C41D-9661-0A9B-593F-84E5CC20151B}"/>
              </a:ext>
            </a:extLst>
          </p:cNvPr>
          <p:cNvSpPr/>
          <p:nvPr/>
        </p:nvSpPr>
        <p:spPr>
          <a:xfrm>
            <a:off x="2133600" y="2306320"/>
            <a:ext cx="4632960" cy="711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06DC4BD-D794-25A4-4CDE-DBE4A80777ED}"/>
              </a:ext>
            </a:extLst>
          </p:cNvPr>
          <p:cNvSpPr/>
          <p:nvPr/>
        </p:nvSpPr>
        <p:spPr>
          <a:xfrm>
            <a:off x="5334000" y="6120288"/>
            <a:ext cx="1432560" cy="6807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5DC9A68-8F16-7E61-979F-29409F228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731" y="1302468"/>
            <a:ext cx="3501390" cy="128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27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DCB8C-9960-557B-B77E-4D9BD7B10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3D647913-1099-F36B-F1B3-4BEFECAC7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964" y="566922"/>
            <a:ext cx="4267796" cy="418205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83A2188-E9D4-0C5F-6306-753790D24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43" y="814724"/>
            <a:ext cx="6791558" cy="596199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2BB6581-29A2-DD20-1A4F-235A5F9A4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095"/>
            <a:ext cx="10515600" cy="1325563"/>
          </a:xfrm>
        </p:spPr>
        <p:txBody>
          <a:bodyPr/>
          <a:lstStyle/>
          <a:p>
            <a:r>
              <a:rPr lang="pt-BR" dirty="0"/>
              <a:t>Criando uma EC2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81B4FD5-6B6C-743F-52FB-0120DAB8ED28}"/>
              </a:ext>
            </a:extLst>
          </p:cNvPr>
          <p:cNvSpPr/>
          <p:nvPr/>
        </p:nvSpPr>
        <p:spPr>
          <a:xfrm>
            <a:off x="355600" y="2140286"/>
            <a:ext cx="6278880" cy="18830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C37588A-775F-A3E6-FC66-1A1105BA355A}"/>
              </a:ext>
            </a:extLst>
          </p:cNvPr>
          <p:cNvSpPr/>
          <p:nvPr/>
        </p:nvSpPr>
        <p:spPr>
          <a:xfrm>
            <a:off x="9911080" y="3570128"/>
            <a:ext cx="1209040" cy="5345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3399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5E9C1-BA4A-545F-1E51-4623B04BF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uma EC2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3C77308-B5DC-2469-A9F9-BEFFEA293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2075" y="1825625"/>
            <a:ext cx="9267849" cy="4351338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3D6C07EA-8341-43D2-2360-278F0E37E512}"/>
              </a:ext>
            </a:extLst>
          </p:cNvPr>
          <p:cNvSpPr/>
          <p:nvPr/>
        </p:nvSpPr>
        <p:spPr>
          <a:xfrm>
            <a:off x="3957320" y="5161280"/>
            <a:ext cx="1651000" cy="4165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469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030B4-5A61-49A1-D80F-48B9FCC84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uma EC2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5A75334-C20D-CEA0-6AAB-3FF80144E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585" y="2470201"/>
            <a:ext cx="8353070" cy="4351338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761553FA-51D3-9FCC-DBB8-70B201BCE144}"/>
              </a:ext>
            </a:extLst>
          </p:cNvPr>
          <p:cNvSpPr/>
          <p:nvPr/>
        </p:nvSpPr>
        <p:spPr>
          <a:xfrm>
            <a:off x="1483360" y="3296336"/>
            <a:ext cx="782320" cy="3149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E2B39AE-F276-C635-B4C0-1EF49A0731CD}"/>
              </a:ext>
            </a:extLst>
          </p:cNvPr>
          <p:cNvSpPr/>
          <p:nvPr/>
        </p:nvSpPr>
        <p:spPr>
          <a:xfrm>
            <a:off x="609600" y="5795696"/>
            <a:ext cx="873760" cy="3149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FFE39E1-0164-8F7D-456F-56C04330B20A}"/>
              </a:ext>
            </a:extLst>
          </p:cNvPr>
          <p:cNvSpPr/>
          <p:nvPr/>
        </p:nvSpPr>
        <p:spPr>
          <a:xfrm>
            <a:off x="538480" y="5013376"/>
            <a:ext cx="2377440" cy="3149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3B1EB2F-678C-5293-9175-7D09FD8FB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796" y="1589456"/>
            <a:ext cx="7047204" cy="2672174"/>
          </a:xfrm>
          <a:prstGeom prst="rect">
            <a:avLst/>
          </a:prstGeom>
        </p:spPr>
      </p:pic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FB24C934-64EB-EC6F-49DC-E78156EF840B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1483360" y="3865296"/>
            <a:ext cx="3586480" cy="208788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5C7935B0-C757-194A-494F-EBB6A00DF054}"/>
              </a:ext>
            </a:extLst>
          </p:cNvPr>
          <p:cNvSpPr/>
          <p:nvPr/>
        </p:nvSpPr>
        <p:spPr>
          <a:xfrm>
            <a:off x="5277638" y="2625047"/>
            <a:ext cx="1483360" cy="19177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09E1D27-5A45-AF93-6E51-77760AB3F21C}"/>
              </a:ext>
            </a:extLst>
          </p:cNvPr>
          <p:cNvSpPr/>
          <p:nvPr/>
        </p:nvSpPr>
        <p:spPr>
          <a:xfrm>
            <a:off x="5277638" y="3213151"/>
            <a:ext cx="2386330" cy="652145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11A5EB9B-6546-61B1-DB5C-FA6F27E24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64" y="1754577"/>
            <a:ext cx="2573594" cy="540343"/>
          </a:xfrm>
          <a:prstGeom prst="rect">
            <a:avLst/>
          </a:prstGeom>
        </p:spPr>
      </p:pic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CB8D8127-EE13-5FF2-1F88-F0991C5D36E4}"/>
              </a:ext>
            </a:extLst>
          </p:cNvPr>
          <p:cNvCxnSpPr>
            <a:stCxn id="5" idx="1"/>
            <a:endCxn id="18" idx="1"/>
          </p:cNvCxnSpPr>
          <p:nvPr/>
        </p:nvCxnSpPr>
        <p:spPr>
          <a:xfrm rot="10800000" flipH="1">
            <a:off x="466584" y="2024750"/>
            <a:ext cx="117779" cy="2621121"/>
          </a:xfrm>
          <a:prstGeom prst="bentConnector3">
            <a:avLst>
              <a:gd name="adj1" fmla="val -194092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230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1A2F6-3DCD-A264-606A-BC7B4B8D3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B9402-4B37-A107-94EE-7E56E5729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Próximos passos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7D7197-A7E4-1382-0016-960BD3B93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Instalar </a:t>
            </a:r>
            <a:r>
              <a:rPr lang="pt-BR" dirty="0" err="1"/>
              <a:t>python</a:t>
            </a:r>
            <a:endParaRPr lang="pt-BR" dirty="0"/>
          </a:p>
          <a:p>
            <a:r>
              <a:rPr lang="pt-BR" dirty="0"/>
              <a:t>Instalar </a:t>
            </a:r>
            <a:r>
              <a:rPr lang="pt-BR" dirty="0" err="1"/>
              <a:t>git</a:t>
            </a:r>
            <a:endParaRPr lang="pt-BR" dirty="0"/>
          </a:p>
          <a:p>
            <a:r>
              <a:rPr lang="pt-BR" dirty="0"/>
              <a:t>Instalar </a:t>
            </a:r>
            <a:r>
              <a:rPr lang="pt-BR" dirty="0" err="1"/>
              <a:t>vscode</a:t>
            </a:r>
            <a:endParaRPr lang="pt-BR" dirty="0"/>
          </a:p>
          <a:p>
            <a:r>
              <a:rPr lang="pt-BR" dirty="0"/>
              <a:t>Instalar drivers</a:t>
            </a:r>
          </a:p>
          <a:p>
            <a:r>
              <a:rPr lang="pt-BR" dirty="0"/>
              <a:t>Instalar </a:t>
            </a:r>
            <a:r>
              <a:rPr lang="pt-BR" dirty="0" err="1"/>
              <a:t>dependendias</a:t>
            </a:r>
            <a:endParaRPr lang="pt-BR" dirty="0"/>
          </a:p>
          <a:p>
            <a:r>
              <a:rPr lang="pt-BR" dirty="0"/>
              <a:t>Permitir conexões </a:t>
            </a:r>
            <a:r>
              <a:rPr lang="pt-BR" dirty="0" err="1"/>
              <a:t>exernas</a:t>
            </a:r>
            <a:r>
              <a:rPr lang="pt-BR" dirty="0"/>
              <a:t> no firewall:</a:t>
            </a:r>
          </a:p>
          <a:p>
            <a:pPr lvl="1"/>
            <a:r>
              <a:rPr lang="pt-BR" dirty="0"/>
              <a:t>New-</a:t>
            </a:r>
            <a:r>
              <a:rPr lang="pt-BR" dirty="0" err="1"/>
              <a:t>NetFirewallRule</a:t>
            </a:r>
            <a:r>
              <a:rPr lang="pt-BR" dirty="0"/>
              <a:t> -</a:t>
            </a:r>
            <a:r>
              <a:rPr lang="pt-BR" dirty="0" err="1"/>
              <a:t>DisplayName</a:t>
            </a:r>
            <a:r>
              <a:rPr lang="pt-BR" dirty="0"/>
              <a:t> "</a:t>
            </a:r>
            <a:r>
              <a:rPr lang="pt-BR" dirty="0" err="1"/>
              <a:t>Flask</a:t>
            </a:r>
            <a:r>
              <a:rPr lang="pt-BR" dirty="0"/>
              <a:t> Porta 5000" -Direction Inbound -</a:t>
            </a:r>
            <a:r>
              <a:rPr lang="pt-BR" dirty="0" err="1"/>
              <a:t>Protocol</a:t>
            </a:r>
            <a:r>
              <a:rPr lang="pt-BR" dirty="0"/>
              <a:t> TCP -</a:t>
            </a:r>
            <a:r>
              <a:rPr lang="pt-BR" dirty="0" err="1"/>
              <a:t>LocalPort</a:t>
            </a:r>
            <a:r>
              <a:rPr lang="pt-BR" dirty="0"/>
              <a:t> 5000 -</a:t>
            </a:r>
            <a:r>
              <a:rPr lang="pt-BR" dirty="0" err="1"/>
              <a:t>Action</a:t>
            </a:r>
            <a:r>
              <a:rPr lang="pt-BR" dirty="0"/>
              <a:t> </a:t>
            </a:r>
            <a:r>
              <a:rPr lang="pt-BR" dirty="0" err="1"/>
              <a:t>Allow</a:t>
            </a:r>
            <a:endParaRPr lang="pt-BR" dirty="0"/>
          </a:p>
          <a:p>
            <a:r>
              <a:rPr lang="pt-BR" dirty="0"/>
              <a:t>Criar regra de entrada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2268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EB0BA-E42D-168F-8290-675581A33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Regra de entrada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D051B3C-7746-C030-307C-60BAF61E4C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323" y="1402838"/>
            <a:ext cx="10951592" cy="498813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1DCD7BCC-CB8C-6DCF-6F61-EFE457352591}"/>
              </a:ext>
            </a:extLst>
          </p:cNvPr>
          <p:cNvSpPr/>
          <p:nvPr/>
        </p:nvSpPr>
        <p:spPr>
          <a:xfrm>
            <a:off x="3814917" y="4438845"/>
            <a:ext cx="873760" cy="3149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66C92A6-D617-FA3D-FB56-9702D1471437}"/>
              </a:ext>
            </a:extLst>
          </p:cNvPr>
          <p:cNvSpPr/>
          <p:nvPr/>
        </p:nvSpPr>
        <p:spPr>
          <a:xfrm>
            <a:off x="670323" y="5658045"/>
            <a:ext cx="2485832" cy="3149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6100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2D674-4587-DE40-C8D8-10639D857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A5290F31-39CB-D933-4A58-CB8D59E3A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323" y="1535489"/>
            <a:ext cx="10515600" cy="415654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47AFA43-88A1-0554-F1A2-425D862D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Regra de entrada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8D99504-CE35-61FC-A2B6-56FB9DC5A2B8}"/>
              </a:ext>
            </a:extLst>
          </p:cNvPr>
          <p:cNvSpPr/>
          <p:nvPr/>
        </p:nvSpPr>
        <p:spPr>
          <a:xfrm>
            <a:off x="9724105" y="3721090"/>
            <a:ext cx="1461818" cy="3149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9317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5A592-66B8-C345-C051-E045BAD35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1065C554-81CE-B953-3F22-43B8AB3039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523" y="1447924"/>
            <a:ext cx="10515600" cy="434327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248059F-572C-5790-F329-9351245C1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Regra de entrada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E76B4B0-E791-089A-A3C6-92E55C5794A0}"/>
              </a:ext>
            </a:extLst>
          </p:cNvPr>
          <p:cNvSpPr/>
          <p:nvPr/>
        </p:nvSpPr>
        <p:spPr>
          <a:xfrm>
            <a:off x="936523" y="4596161"/>
            <a:ext cx="1461818" cy="31496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85510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A9A22-28AE-EFB6-1F59-7E47C2D4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D167FA2E-2F81-DA92-4D4E-2AF94816B7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82435"/>
            <a:ext cx="10515600" cy="383771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08B57D2-D93F-9602-E749-81A100021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Regra de entrada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BC21873-8136-BC50-8219-24A9F9E4B316}"/>
              </a:ext>
            </a:extLst>
          </p:cNvPr>
          <p:cNvSpPr/>
          <p:nvPr/>
        </p:nvSpPr>
        <p:spPr>
          <a:xfrm>
            <a:off x="1044677" y="4507669"/>
            <a:ext cx="10203425" cy="57560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99175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51BC6A-829D-AC05-C7F1-0151367DF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Aplicação Rodando na EC2!!</a:t>
            </a:r>
          </a:p>
        </p:txBody>
      </p:sp>
    </p:spTree>
    <p:extLst>
      <p:ext uri="{BB962C8B-B14F-4D97-AF65-F5344CB8AC3E}">
        <p14:creationId xmlns:p14="http://schemas.microsoft.com/office/powerpoint/2010/main" val="21181747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371</Words>
  <Application>Microsoft Office PowerPoint</Application>
  <PresentationFormat>Widescreen</PresentationFormat>
  <Paragraphs>48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Tema do Office</vt:lpstr>
      <vt:lpstr>Introduçao ao Amazon EC2</vt:lpstr>
      <vt:lpstr>Sumário</vt:lpstr>
      <vt:lpstr>Amazon EC2</vt:lpstr>
      <vt:lpstr>Amazon EC2</vt:lpstr>
      <vt:lpstr>Ciclos de vida da instância</vt:lpstr>
      <vt:lpstr>Ciclos de vida da instância</vt:lpstr>
      <vt:lpstr>Criando uma instância no AWS</vt:lpstr>
      <vt:lpstr>Criar uma conta</vt:lpstr>
      <vt:lpstr>Criar uma conta</vt:lpstr>
      <vt:lpstr>Criar uma conta</vt:lpstr>
      <vt:lpstr>Criar uma conta</vt:lpstr>
      <vt:lpstr>Criar uma conta</vt:lpstr>
      <vt:lpstr>Criar uma conta</vt:lpstr>
      <vt:lpstr>Interface inicial</vt:lpstr>
      <vt:lpstr>Criando uma EC2</vt:lpstr>
      <vt:lpstr>Criando uma EC2</vt:lpstr>
      <vt:lpstr>Criando uma EC2</vt:lpstr>
      <vt:lpstr>Criando uma EC2</vt:lpstr>
      <vt:lpstr>Criando uma EC2</vt:lpstr>
      <vt:lpstr>Criando uma EC2</vt:lpstr>
      <vt:lpstr>Criando uma EC2</vt:lpstr>
      <vt:lpstr>Criando uma EC2</vt:lpstr>
      <vt:lpstr>Próximos passos</vt:lpstr>
      <vt:lpstr>Regra de entrada</vt:lpstr>
      <vt:lpstr>Regra de entrada</vt:lpstr>
      <vt:lpstr>Regra de entrada</vt:lpstr>
      <vt:lpstr>Regra de entrada</vt:lpstr>
      <vt:lpstr>Aplicação Rodando na EC2!!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Youth Space</dc:creator>
  <cp:lastModifiedBy>Youth Space</cp:lastModifiedBy>
  <cp:revision>3</cp:revision>
  <dcterms:created xsi:type="dcterms:W3CDTF">2026-04-04T15:01:15Z</dcterms:created>
  <dcterms:modified xsi:type="dcterms:W3CDTF">2026-04-04T19:18:19Z</dcterms:modified>
</cp:coreProperties>
</file>