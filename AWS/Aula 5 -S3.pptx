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CD644-4092-378D-7BE3-3C56478A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04960A-9B34-FEE8-41D7-307474055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4CF42C-17A2-EF9B-BFDF-047A23DB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2B4F2-28FD-64F7-0631-055FFD38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F4AF-7DD4-63F9-AC3B-98F16258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4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77CF-CEA8-8380-43B2-93F8FB39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12FBC-4781-FF17-281C-57CEE2A8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77937-8260-9C0E-EFCC-9811C2CD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0A6814-CBF8-1889-07B2-B9478BC2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EB9BC0-16D0-1AF3-DA64-F381ECA6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2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18CBE-381E-7F54-113B-4D1CCFF0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5111FA-1DFE-5AAE-27C4-A9BE65C8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D0840B-AF26-F153-1466-F0076AED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61183-B637-0484-D2EF-F8E010B6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DCCA9-727D-2674-1E8F-0646BDE0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66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9BBD-A44A-9172-0CA3-81419787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3EB82-12AB-4404-302A-3D3C15BF9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CB2AF-061D-C7A7-3DCE-61BAFB07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CF8E1D-04D5-89BE-62C2-1F23A6F8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ABA567-3CE2-2A24-BE12-A9416947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BFB9E5-D1AE-C119-A058-6362E718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36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C48F2-A315-F4A3-1DEE-ACED44E7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3DE686-6D50-0C9D-0889-0E6BFB05A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9A7543-7A29-8E51-1128-D54A9623C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1D7308-EC4D-6DEF-B8B5-CB9A4C0C2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DB1BFD-F409-2918-B03F-A5217EEE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2D1C0E-5EC3-D577-003D-D7A018F9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A13D85-FAF8-927E-739B-47ACCE8B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6134CB-8D5B-19C8-0923-22AA493F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04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E96F-8AF6-FAC0-CE98-D0E5A180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2B5306-897A-926B-1FC1-58338F49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B22686-3F47-3FE6-366E-90E2777A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D28479-6671-AE97-71F4-6C08F64B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57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849237-3E5C-94EA-8A4A-6386A2EF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C018C6-6648-7C4A-489B-312E11FC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30EA51-79A3-A212-04C3-70D7B6EB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8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2B33E-9E61-A2A4-33E9-8E36710B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F50E02-ADA3-13F6-FE09-743FFD3A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A41191-8F4E-05FA-0600-BD54C9267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E9FEEA-6621-71D4-9540-81BC15D9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5A06B3-5580-DF72-9A7E-26BF0483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138C3-F025-C09B-A61B-3F4E0213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12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CCFB9-8BB1-1D48-6247-2C03651C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207937-8A3E-C6F3-7F58-19863DEF0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BD931B-FE96-9F38-D8F0-069E7B0C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D92DF6-953F-5D30-C355-75D3C3E9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2713EB-71E3-6511-FCC7-CBA6BAFE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9A0330-CE42-4344-5BA8-114AE85A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78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B1E8A-4E6A-3BA1-5705-3CCC076D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54A311-C89B-FFE2-FABC-69D831544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27023-10B7-8BC8-00A7-7DC0A5BC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D86E5-3D5F-F127-B6FE-EBEB7CA2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0E8156-2179-DD5C-DE2F-44C38FC3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00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00D2C3-5510-FF6E-8281-2F82F8BF0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84DAA0-9886-CE61-39D8-87BF43086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EC10A-0C32-E4E9-E4BB-F5B61CAD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CF5164-4917-978E-369A-E84FA54D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0CACAF-E6D3-6669-BF3B-223D71B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45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1C87A-3684-E8DF-6057-657E58F0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36D1A-A2D4-81F0-E4DC-A1B2297B5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BCEA38-76D5-2195-4B84-CA79431B1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D7BE4-36FC-C8D3-FAD2-5BBA90538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E82AD7-F7A6-FEFD-5368-388FC6942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59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seu_bucket.s3.amazonaws.com/uploads/imagem.jpg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CE358-4775-177E-FAC8-AFF18BC5D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</a:t>
            </a:r>
            <a:r>
              <a:rPr lang="pt-BR" dirty="0" err="1"/>
              <a:t>Amazon</a:t>
            </a:r>
            <a:r>
              <a:rPr lang="pt-BR" dirty="0"/>
              <a:t> S3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335086-ED07-3334-31F3-9FE752FC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0174"/>
            <a:ext cx="9144000" cy="521906"/>
          </a:xfrm>
        </p:spPr>
        <p:txBody>
          <a:bodyPr/>
          <a:lstStyle/>
          <a:p>
            <a:pPr algn="r"/>
            <a:r>
              <a:rPr lang="pt-BR" dirty="0"/>
              <a:t>Prof.: Dionizio Porfírio</a:t>
            </a:r>
          </a:p>
        </p:txBody>
      </p:sp>
    </p:spTree>
    <p:extLst>
      <p:ext uri="{BB962C8B-B14F-4D97-AF65-F5344CB8AC3E}">
        <p14:creationId xmlns:p14="http://schemas.microsoft.com/office/powerpoint/2010/main" val="356949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32EFA-80F8-2146-B17F-35E0ACF2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E61E9-E64C-8915-E132-5741D609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Introdução ao </a:t>
            </a:r>
            <a:r>
              <a:rPr lang="pt-BR" dirty="0" err="1"/>
              <a:t>Amazon</a:t>
            </a:r>
            <a:r>
              <a:rPr lang="pt-BR" dirty="0"/>
              <a:t> S3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667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B489E-8CF7-0473-9621-1451E208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Amazon</a:t>
            </a:r>
            <a:r>
              <a:rPr lang="pt-BR" dirty="0"/>
              <a:t>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95C51-8596-AAA7-F5AE-FB73102B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1592" cy="435133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b="1" dirty="0" err="1"/>
              <a:t>Introdução</a:t>
            </a:r>
            <a:r>
              <a:rPr lang="pt-BR" i="1" dirty="0" err="1"/>
              <a:t>Lançado</a:t>
            </a:r>
            <a:r>
              <a:rPr lang="pt-BR" i="1" dirty="0"/>
              <a:t> no dia 14 de março de 2006, o </a:t>
            </a:r>
            <a:r>
              <a:rPr lang="pt-BR" i="1" dirty="0" err="1"/>
              <a:t>Amazon</a:t>
            </a:r>
            <a:r>
              <a:rPr lang="pt-BR" i="1" dirty="0"/>
              <a:t> </a:t>
            </a:r>
            <a:r>
              <a:rPr lang="pt-BR" i="1" dirty="0" err="1"/>
              <a:t>Simple</a:t>
            </a:r>
            <a:r>
              <a:rPr lang="pt-BR" i="1" dirty="0"/>
              <a:t> </a:t>
            </a:r>
            <a:r>
              <a:rPr lang="pt-BR" i="1" dirty="0" err="1"/>
              <a:t>Storage</a:t>
            </a:r>
            <a:r>
              <a:rPr lang="pt-BR" i="1" dirty="0"/>
              <a:t> Service (</a:t>
            </a:r>
            <a:r>
              <a:rPr lang="pt-BR" i="1" dirty="0" err="1"/>
              <a:t>Amazon</a:t>
            </a:r>
            <a:r>
              <a:rPr lang="pt-BR" i="1" dirty="0"/>
              <a:t> S3)foi o primeiro produto lançado para AWS.</a:t>
            </a:r>
          </a:p>
          <a:p>
            <a:pPr algn="just"/>
            <a:r>
              <a:rPr lang="pt-BR" i="1" dirty="0"/>
              <a:t>É um serviço global de armazenamento de objetos (arquivos) que oferece escalabilidade, disponibilidade de dados, segurança e desempenho.</a:t>
            </a:r>
          </a:p>
          <a:p>
            <a:pPr algn="just"/>
            <a:r>
              <a:rPr lang="pt-BR" i="1" dirty="0"/>
              <a:t>Fornece recursos de gerenciamento para que você possa otimizar, organizar </a:t>
            </a:r>
            <a:r>
              <a:rPr lang="pt-BR" i="1" dirty="0" err="1"/>
              <a:t>econfigurar</a:t>
            </a:r>
            <a:r>
              <a:rPr lang="pt-BR" i="1" dirty="0"/>
              <a:t> o acesso aos seus dados para atender aos seus requisitos específicos de negócios.</a:t>
            </a:r>
          </a:p>
          <a:p>
            <a:pPr algn="just"/>
            <a:r>
              <a:rPr lang="pt-BR" i="1" dirty="0"/>
              <a:t>O </a:t>
            </a:r>
            <a:r>
              <a:rPr lang="pt-BR" i="1" dirty="0" err="1"/>
              <a:t>Amazon</a:t>
            </a:r>
            <a:r>
              <a:rPr lang="pt-BR" i="1" dirty="0"/>
              <a:t> S3 oferece uma ampla variedade de classes de armazenamento para diferentes casos de uso.</a:t>
            </a:r>
          </a:p>
          <a:p>
            <a:pPr algn="just"/>
            <a:r>
              <a:rPr lang="pt-BR" i="1" dirty="0"/>
              <a:t>Possui recursos de ciclos de vida de objetos (otimização de custos).</a:t>
            </a:r>
          </a:p>
          <a:p>
            <a:pPr algn="just"/>
            <a:r>
              <a:rPr lang="pt-BR" i="1" dirty="0"/>
              <a:t>Fornece recursos para auditoria e gerenciamento de acesso a seus </a:t>
            </a:r>
            <a:r>
              <a:rPr lang="pt-BR" i="1" dirty="0" err="1"/>
              <a:t>buckets</a:t>
            </a:r>
            <a:r>
              <a:rPr lang="pt-BR" i="1" dirty="0"/>
              <a:t> e objetos.</a:t>
            </a:r>
            <a:endParaRPr lang="pt-BR" dirty="0"/>
          </a:p>
        </p:txBody>
      </p:sp>
      <p:pic>
        <p:nvPicPr>
          <p:cNvPr id="4" name="Picture 2" descr="Cinco passos para o sucesso do seu Backup utilizando o Amazon S3 – 2Cloud |  A Nuvem Premium">
            <a:extLst>
              <a:ext uri="{FF2B5EF4-FFF2-40B4-BE49-F238E27FC236}">
                <a16:creationId xmlns:a16="http://schemas.microsoft.com/office/drawing/2014/main" id="{EF488AA6-8D13-FA76-4A54-1229B9325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5724" y="1690687"/>
            <a:ext cx="4489449" cy="336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5D1A-0C81-CDC0-1944-4EEA3286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</a:t>
            </a:r>
            <a:r>
              <a:rPr lang="pt-BR" dirty="0" err="1"/>
              <a:t>buckets</a:t>
            </a:r>
            <a:r>
              <a:rPr lang="pt-BR" dirty="0"/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18352-F311-0B66-38E6-D319DF4E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3982525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Um </a:t>
            </a:r>
            <a:r>
              <a:rPr lang="pt-BR" sz="2000" dirty="0" err="1"/>
              <a:t>bucket</a:t>
            </a:r>
            <a:r>
              <a:rPr lang="pt-BR" sz="2000" dirty="0"/>
              <a:t> do S3 é um contêiner para armazenamento de objetos</a:t>
            </a:r>
          </a:p>
          <a:p>
            <a:pPr algn="just"/>
            <a:r>
              <a:rPr lang="pt-BR" sz="2000" dirty="0"/>
              <a:t>Por padrão, você pode armazenar um número ilimitado de objetos em um </a:t>
            </a:r>
            <a:r>
              <a:rPr lang="pt-BR" sz="2000" dirty="0" err="1"/>
              <a:t>Bucket</a:t>
            </a:r>
            <a:r>
              <a:rPr lang="pt-BR" sz="2000" dirty="0"/>
              <a:t>. Entretanto, pode ter apenas 100 </a:t>
            </a:r>
            <a:r>
              <a:rPr lang="pt-BR" sz="2000" dirty="0" err="1"/>
              <a:t>Buckets</a:t>
            </a:r>
            <a:r>
              <a:rPr lang="pt-BR" sz="2000" dirty="0"/>
              <a:t> por cada conta.</a:t>
            </a:r>
          </a:p>
          <a:p>
            <a:r>
              <a:rPr lang="pt-BR" sz="2000" dirty="0"/>
              <a:t>Cada </a:t>
            </a:r>
            <a:r>
              <a:rPr lang="pt-BR" sz="2000" dirty="0" err="1"/>
              <a:t>bucket</a:t>
            </a:r>
            <a:r>
              <a:rPr lang="pt-BR" sz="2000" dirty="0"/>
              <a:t> deve possuir um nome único globalmente (DNS).</a:t>
            </a:r>
          </a:p>
          <a:p>
            <a:r>
              <a:rPr lang="pt-BR" sz="2000" dirty="0"/>
              <a:t>Ao criar um </a:t>
            </a:r>
            <a:r>
              <a:rPr lang="pt-BR" sz="2000" dirty="0" err="1"/>
              <a:t>bucket</a:t>
            </a:r>
            <a:r>
              <a:rPr lang="pt-BR" sz="2000" dirty="0"/>
              <a:t>, você insere um nome de </a:t>
            </a:r>
            <a:r>
              <a:rPr lang="pt-BR" sz="2000" dirty="0" err="1"/>
              <a:t>bucket</a:t>
            </a:r>
            <a:r>
              <a:rPr lang="pt-BR" sz="2000" dirty="0"/>
              <a:t> e escolhe a região da AWS onde o </a:t>
            </a:r>
            <a:r>
              <a:rPr lang="pt-BR" sz="2000" dirty="0" err="1"/>
              <a:t>bucket</a:t>
            </a:r>
            <a:r>
              <a:rPr lang="pt-BR" sz="2000" dirty="0"/>
              <a:t> residirá. Assim que você cria um </a:t>
            </a:r>
            <a:r>
              <a:rPr lang="pt-BR" sz="2000" dirty="0" err="1"/>
              <a:t>bucket</a:t>
            </a:r>
            <a:r>
              <a:rPr lang="pt-BR" sz="2000" dirty="0"/>
              <a:t>, não pode mais alterar o nome do </a:t>
            </a:r>
            <a:r>
              <a:rPr lang="pt-BR" sz="2000" dirty="0" err="1"/>
              <a:t>bucket</a:t>
            </a:r>
            <a:r>
              <a:rPr lang="pt-BR" sz="2000" dirty="0"/>
              <a:t> ou sua região.</a:t>
            </a:r>
          </a:p>
          <a:p>
            <a:r>
              <a:rPr lang="pt-BR" sz="2000" dirty="0"/>
              <a:t>Os nomes dos </a:t>
            </a:r>
            <a:r>
              <a:rPr lang="pt-BR" sz="2000" dirty="0" err="1"/>
              <a:t>buckets</a:t>
            </a:r>
            <a:r>
              <a:rPr lang="pt-BR" sz="2000" dirty="0"/>
              <a:t> identificam a conta responsável por cobranças de transferência de dados e armazenamento.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8603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ED8D6-B43E-D4EC-289A-BB2B12732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541AF-FD0D-E18F-8D9E-8BAAF0C7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Regras de nome de </a:t>
            </a:r>
            <a:r>
              <a:rPr lang="pt-BR" dirty="0" err="1"/>
              <a:t>bucket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EAE244-13CD-E3BD-506C-21D039592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2655171"/>
          </a:xfrm>
        </p:spPr>
        <p:txBody>
          <a:bodyPr>
            <a:normAutofit/>
          </a:bodyPr>
          <a:lstStyle/>
          <a:p>
            <a:r>
              <a:rPr lang="pt-BR" sz="2000" dirty="0"/>
              <a:t>Os nomes dos </a:t>
            </a:r>
            <a:r>
              <a:rPr lang="pt-BR" sz="2000" dirty="0" err="1"/>
              <a:t>buckets</a:t>
            </a:r>
            <a:r>
              <a:rPr lang="pt-BR" sz="2000" dirty="0"/>
              <a:t> devem seguir algumas regras:</a:t>
            </a:r>
          </a:p>
          <a:p>
            <a:pPr lvl="1"/>
            <a:r>
              <a:rPr lang="pt-BR" sz="1600" dirty="0"/>
              <a:t>entre 3 e 63 caracteres </a:t>
            </a:r>
          </a:p>
          <a:p>
            <a:pPr lvl="1"/>
            <a:r>
              <a:rPr lang="pt-BR" sz="1600" dirty="0"/>
              <a:t>apenas letras minúsculas, números e hífen (-) </a:t>
            </a:r>
          </a:p>
          <a:p>
            <a:pPr lvl="1"/>
            <a:r>
              <a:rPr lang="pt-BR" sz="1600" dirty="0"/>
              <a:t>não pode repetir (nome global) </a:t>
            </a:r>
          </a:p>
          <a:p>
            <a:r>
              <a:rPr lang="pt-BR" sz="2000" dirty="0"/>
              <a:t>Exemplo:</a:t>
            </a:r>
          </a:p>
          <a:p>
            <a:pPr lvl="1"/>
            <a:r>
              <a:rPr lang="pt-BR" sz="1600" dirty="0"/>
              <a:t>meu-site-imagens </a:t>
            </a:r>
          </a:p>
          <a:p>
            <a:pPr lvl="1"/>
            <a:r>
              <a:rPr lang="pt-BR" sz="1600" dirty="0"/>
              <a:t>uploads-app-2026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122927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2186F-F044-EB66-A748-7F5F0AB2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4BCC07-0BBE-84E8-5F2D-24984520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objetos?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8199E2-D0B8-0284-2FB6-2862DC7BD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4218500"/>
          </a:xfrm>
        </p:spPr>
        <p:txBody>
          <a:bodyPr>
            <a:normAutofit/>
          </a:bodyPr>
          <a:lstStyle/>
          <a:p>
            <a:r>
              <a:rPr lang="pt-BR" sz="2000" dirty="0"/>
              <a:t>Objetos são os arquivos armazenados no </a:t>
            </a:r>
            <a:r>
              <a:rPr lang="pt-BR" sz="2000" dirty="0" err="1"/>
              <a:t>bucket</a:t>
            </a:r>
            <a:r>
              <a:rPr lang="pt-BR" sz="2000" dirty="0"/>
              <a:t>.</a:t>
            </a:r>
          </a:p>
          <a:p>
            <a:r>
              <a:rPr lang="pt-BR" sz="2000" dirty="0"/>
              <a:t>Podem ser:</a:t>
            </a:r>
          </a:p>
          <a:p>
            <a:pPr lvl="1"/>
            <a:r>
              <a:rPr lang="pt-BR" sz="1600" dirty="0"/>
              <a:t>imagens (.</a:t>
            </a:r>
            <a:r>
              <a:rPr lang="pt-BR" sz="1600" dirty="0" err="1"/>
              <a:t>jpg</a:t>
            </a:r>
            <a:r>
              <a:rPr lang="pt-BR" sz="1600" dirty="0"/>
              <a:t>, .png) </a:t>
            </a:r>
          </a:p>
          <a:p>
            <a:pPr lvl="1"/>
            <a:r>
              <a:rPr lang="pt-BR" sz="1600" dirty="0"/>
              <a:t>vídeos </a:t>
            </a:r>
          </a:p>
          <a:p>
            <a:pPr lvl="1"/>
            <a:r>
              <a:rPr lang="pt-BR" sz="1600" dirty="0" err="1"/>
              <a:t>PDFs</a:t>
            </a:r>
            <a:r>
              <a:rPr lang="pt-BR" sz="1600" dirty="0"/>
              <a:t> </a:t>
            </a:r>
          </a:p>
          <a:p>
            <a:pPr lvl="1"/>
            <a:r>
              <a:rPr lang="pt-BR" sz="1600" dirty="0"/>
              <a:t>qualquer tipo de arquivo </a:t>
            </a:r>
          </a:p>
          <a:p>
            <a:r>
              <a:rPr lang="pt-BR" sz="2000" dirty="0"/>
              <a:t>Cada objeto possui:</a:t>
            </a:r>
          </a:p>
          <a:p>
            <a:pPr lvl="1"/>
            <a:r>
              <a:rPr lang="pt-BR" sz="1600" dirty="0"/>
              <a:t>conteúdo (arquivo) </a:t>
            </a:r>
          </a:p>
          <a:p>
            <a:pPr lvl="1"/>
            <a:r>
              <a:rPr lang="pt-BR" sz="1600" dirty="0"/>
              <a:t>nome (chave) </a:t>
            </a:r>
          </a:p>
          <a:p>
            <a:pPr lvl="1"/>
            <a:r>
              <a:rPr lang="pt-BR" sz="1600" dirty="0"/>
              <a:t>metadados</a:t>
            </a:r>
          </a:p>
          <a:p>
            <a:pPr algn="just"/>
            <a:endParaRPr lang="pt-BR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9A13225-E75B-6078-FF54-7A7AD8D05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660" y="2110154"/>
            <a:ext cx="6121539" cy="4081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4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EA48-68FE-6E14-EC90-882CCE505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04A70-6871-714C-950A-A1E697A0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no 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F516B2-DE30-754D-0E17-8B2E744C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3422087"/>
          </a:xfrm>
        </p:spPr>
        <p:txBody>
          <a:bodyPr>
            <a:normAutofit/>
          </a:bodyPr>
          <a:lstStyle/>
          <a:p>
            <a:r>
              <a:rPr lang="pt-BR" sz="2000" dirty="0"/>
              <a:t>No S3 não existem pastas reais.</a:t>
            </a:r>
          </a:p>
          <a:p>
            <a:r>
              <a:rPr lang="pt-BR" sz="2000" dirty="0"/>
              <a:t>As “pastas” são apenas parte do nome do arquivo.</a:t>
            </a:r>
          </a:p>
          <a:p>
            <a:r>
              <a:rPr lang="pt-BR" sz="2000" dirty="0"/>
              <a:t>Exemplo de chaves:</a:t>
            </a:r>
          </a:p>
          <a:p>
            <a:pPr lvl="1"/>
            <a:r>
              <a:rPr lang="pt-BR" sz="1600" dirty="0"/>
              <a:t>uploads/img1.png </a:t>
            </a:r>
          </a:p>
          <a:p>
            <a:pPr lvl="1"/>
            <a:r>
              <a:rPr lang="pt-BR" sz="1600" dirty="0"/>
              <a:t>uploads/</a:t>
            </a:r>
            <a:r>
              <a:rPr lang="pt-BR" sz="1600" dirty="0" err="1"/>
              <a:t>usuarios</a:t>
            </a:r>
            <a:r>
              <a:rPr lang="pt-BR" sz="1600" dirty="0"/>
              <a:t>/foto.jpg </a:t>
            </a:r>
          </a:p>
          <a:p>
            <a:pPr lvl="1"/>
            <a:r>
              <a:rPr lang="pt-BR" sz="1600" dirty="0"/>
              <a:t>documentos/relatorio.pdf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6399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7764C-ADE1-7EDA-1E23-4D7E34E9E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B6A0C-8B23-6E65-DF8F-A852DE283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Integração com 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733D9-3FD3-0A97-C920-6B122E6DF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3422087"/>
          </a:xfrm>
        </p:spPr>
        <p:txBody>
          <a:bodyPr>
            <a:normAutofit/>
          </a:bodyPr>
          <a:lstStyle/>
          <a:p>
            <a:r>
              <a:rPr lang="pt-BR" sz="2000" dirty="0"/>
              <a:t>Uma aplicação pode enviar arquivos diretamente para o S3.</a:t>
            </a:r>
          </a:p>
          <a:p>
            <a:r>
              <a:rPr lang="pt-BR" sz="2000" dirty="0"/>
              <a:t>Fluxo:</a:t>
            </a:r>
          </a:p>
          <a:p>
            <a:pPr lvl="1"/>
            <a:r>
              <a:rPr lang="pt-BR" sz="1600" dirty="0"/>
              <a:t>usuário envia arquivo </a:t>
            </a:r>
          </a:p>
          <a:p>
            <a:pPr lvl="1"/>
            <a:r>
              <a:rPr lang="pt-BR" sz="1600" dirty="0" err="1"/>
              <a:t>backend</a:t>
            </a:r>
            <a:r>
              <a:rPr lang="pt-BR" sz="1600" dirty="0"/>
              <a:t> recebe </a:t>
            </a:r>
          </a:p>
          <a:p>
            <a:pPr lvl="1"/>
            <a:r>
              <a:rPr lang="pt-BR" sz="1600" dirty="0" err="1"/>
              <a:t>backend</a:t>
            </a:r>
            <a:r>
              <a:rPr lang="pt-BR" sz="1600" dirty="0"/>
              <a:t> envia para o S3 </a:t>
            </a:r>
          </a:p>
          <a:p>
            <a:r>
              <a:rPr lang="pt-BR" sz="2000" dirty="0"/>
              <a:t>arquivo fica armazenado na nuvem </a:t>
            </a:r>
          </a:p>
          <a:p>
            <a:r>
              <a:rPr lang="pt-BR" sz="2000" dirty="0"/>
              <a:t>Vantagem:</a:t>
            </a:r>
          </a:p>
          <a:p>
            <a:pPr lvl="1"/>
            <a:r>
              <a:rPr lang="pt-BR" sz="1600" dirty="0"/>
              <a:t>não depende do servidor (EC2) </a:t>
            </a:r>
          </a:p>
          <a:p>
            <a:pPr lvl="1"/>
            <a:r>
              <a:rPr lang="pt-BR" sz="1600" dirty="0"/>
              <a:t>mais escalável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6582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D20A-D638-A3F4-94A5-7574576D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A335E-944F-6F5F-36A5-035D71DC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 final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B1CDF-D500-EECB-EB3C-1F45942B2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1177016" cy="3422087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S3 = armazenamento de arquivos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 err="1">
                <a:latin typeface="Arial" panose="020B0604020202020204" pitchFamily="34" charset="0"/>
              </a:rPr>
              <a:t>Bucket</a:t>
            </a:r>
            <a:r>
              <a:rPr lang="pt-BR" altLang="pt-BR" sz="2000" dirty="0">
                <a:latin typeface="Arial" panose="020B0604020202020204" pitchFamily="34" charset="0"/>
              </a:rPr>
              <a:t> = pasta principal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Objeto = arquivo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Chave = caminho do arquivo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000" dirty="0">
                <a:latin typeface="Arial" panose="020B0604020202020204" pitchFamily="34" charset="0"/>
              </a:rPr>
              <a:t>Integra facilmente com aplicações </a:t>
            </a:r>
          </a:p>
        </p:txBody>
      </p:sp>
    </p:spTree>
    <p:extLst>
      <p:ext uri="{BB962C8B-B14F-4D97-AF65-F5344CB8AC3E}">
        <p14:creationId xmlns:p14="http://schemas.microsoft.com/office/powerpoint/2010/main" val="98337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1B867-3A2C-CB53-64DA-200A90B4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8F2ABD2-3DD4-3778-31F6-7BB00D229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270" y="1437481"/>
            <a:ext cx="10728326" cy="4896644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8C8BB6F-2C66-EB9F-3298-10848ECD17FE}"/>
              </a:ext>
            </a:extLst>
          </p:cNvPr>
          <p:cNvSpPr/>
          <p:nvPr/>
        </p:nvSpPr>
        <p:spPr>
          <a:xfrm>
            <a:off x="1133475" y="2638425"/>
            <a:ext cx="790575" cy="2571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80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8A28F-0057-320E-803D-BE75EF360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94F4D0B7-14C4-A140-A5A4-74525C0F2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174" y="1255284"/>
            <a:ext cx="7806650" cy="553786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48E42C-BE73-827A-2E20-B28FB6D95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63CAD31-69C4-0E2D-2F05-58828C14A083}"/>
              </a:ext>
            </a:extLst>
          </p:cNvPr>
          <p:cNvSpPr/>
          <p:nvPr/>
        </p:nvSpPr>
        <p:spPr>
          <a:xfrm>
            <a:off x="4171569" y="5474129"/>
            <a:ext cx="601600" cy="213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743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CB99-8458-4D60-7C23-51B13F39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F3D53DF4-7658-4B4E-380E-8AA29C2D9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051" y="1853057"/>
            <a:ext cx="8561897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5DA8CA-DCCD-6776-3249-405043820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7CB9070-8637-19E8-3BA0-1AC34E87F442}"/>
              </a:ext>
            </a:extLst>
          </p:cNvPr>
          <p:cNvSpPr/>
          <p:nvPr/>
        </p:nvSpPr>
        <p:spPr>
          <a:xfrm>
            <a:off x="9392792" y="2922952"/>
            <a:ext cx="875919" cy="295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37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7B4D-D119-8088-DACB-2A4FB1B0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C38021-53A4-0977-DB17-2BCD0CE5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A7FF6-EA96-4E6E-371F-9EDE13309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191411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Configuração do </a:t>
            </a:r>
            <a:r>
              <a:rPr lang="pt-BR" dirty="0" err="1"/>
              <a:t>Bucket</a:t>
            </a:r>
            <a:r>
              <a:rPr lang="pt-BR" dirty="0"/>
              <a:t> (S3)</a:t>
            </a:r>
          </a:p>
          <a:p>
            <a:r>
              <a:rPr lang="pt-BR" dirty="0"/>
              <a:t>Para este projeto, utilizamos uma configuração simples e funcional:</a:t>
            </a:r>
          </a:p>
          <a:p>
            <a:pPr lvl="1"/>
            <a:r>
              <a:rPr lang="pt-BR" dirty="0"/>
              <a:t>Tipo de </a:t>
            </a:r>
            <a:r>
              <a:rPr lang="pt-BR" dirty="0" err="1"/>
              <a:t>bucket</a:t>
            </a:r>
            <a:r>
              <a:rPr lang="pt-BR" dirty="0"/>
              <a:t>: </a:t>
            </a:r>
            <a:r>
              <a:rPr lang="pt-BR" b="1" dirty="0"/>
              <a:t>Propósito geral</a:t>
            </a:r>
          </a:p>
          <a:p>
            <a:pPr lvl="1"/>
            <a:r>
              <a:rPr lang="pt-BR" dirty="0"/>
              <a:t>Nome: deve ser </a:t>
            </a:r>
            <a:r>
              <a:rPr lang="pt-BR" b="1" dirty="0"/>
              <a:t>único globalmente</a:t>
            </a:r>
          </a:p>
          <a:p>
            <a:pPr lvl="1"/>
            <a:r>
              <a:rPr lang="pt-BR" dirty="0" err="1"/>
              <a:t>ACLs</a:t>
            </a:r>
            <a:r>
              <a:rPr lang="pt-BR" dirty="0"/>
              <a:t>: </a:t>
            </a:r>
            <a:r>
              <a:rPr lang="pt-BR" b="1" dirty="0"/>
              <a:t>desabilitadas (recomendado)</a:t>
            </a:r>
          </a:p>
          <a:p>
            <a:pPr lvl="1"/>
            <a:r>
              <a:rPr lang="pt-BR" dirty="0"/>
              <a:t>Acesso público: </a:t>
            </a:r>
            <a:r>
              <a:rPr lang="pt-BR" b="1" dirty="0"/>
              <a:t>liberado para facilitar acesso às imagens</a:t>
            </a:r>
          </a:p>
          <a:p>
            <a:pPr lvl="1"/>
            <a:r>
              <a:rPr lang="pt-BR" dirty="0"/>
              <a:t>Versionamento: </a:t>
            </a:r>
            <a:r>
              <a:rPr lang="pt-BR" b="1" dirty="0"/>
              <a:t>desativado</a:t>
            </a:r>
          </a:p>
          <a:p>
            <a:pPr lvl="1"/>
            <a:r>
              <a:rPr lang="pt-BR" dirty="0"/>
              <a:t>Criptografia: </a:t>
            </a:r>
            <a:r>
              <a:rPr lang="pt-BR" b="1" dirty="0"/>
              <a:t>padrão (SSE-S3)</a:t>
            </a:r>
          </a:p>
          <a:p>
            <a:r>
              <a:rPr lang="pt-BR" dirty="0"/>
              <a:t>Observação</a:t>
            </a:r>
          </a:p>
          <a:p>
            <a:pPr lvl="1"/>
            <a:r>
              <a:rPr lang="pt-BR" dirty="0"/>
              <a:t>Essa configuração é ideal para aprendizado e demonstração.</a:t>
            </a:r>
          </a:p>
          <a:p>
            <a:pPr lvl="1"/>
            <a:r>
              <a:rPr lang="pt-BR" dirty="0"/>
              <a:t>Em ambientes reais, o acesso público deve ser controlado com mais segurança.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948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EA56C-AC4A-5F3E-A5CF-E58FAA59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D1E617DA-42C2-4B54-AC88-A05FF8F7D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896" y="1825625"/>
            <a:ext cx="9462207" cy="435133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8378788-71C5-9F72-62C8-388661A0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F41C9C2-927C-A88B-7323-DFC383900E13}"/>
              </a:ext>
            </a:extLst>
          </p:cNvPr>
          <p:cNvSpPr/>
          <p:nvPr/>
        </p:nvSpPr>
        <p:spPr>
          <a:xfrm>
            <a:off x="4083373" y="3011443"/>
            <a:ext cx="875919" cy="2957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712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8E0EE-303B-2AD7-BB84-10B96475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C41FCC-AE61-0AFB-2875-B0F8C689E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Configurando acesso público no S3</a:t>
            </a:r>
          </a:p>
          <a:p>
            <a:r>
              <a:rPr lang="pt-BR" dirty="0"/>
              <a:t>Para permitir que os arquivos sejam acessados pela internet, é necessário configurar uma política no </a:t>
            </a:r>
            <a:r>
              <a:rPr lang="pt-BR" dirty="0" err="1"/>
              <a:t>bucket</a:t>
            </a:r>
            <a:r>
              <a:rPr lang="pt-BR" dirty="0"/>
              <a:t>.</a:t>
            </a:r>
          </a:p>
          <a:p>
            <a:r>
              <a:rPr lang="pt-BR" dirty="0"/>
              <a:t>Passos:</a:t>
            </a:r>
          </a:p>
          <a:p>
            <a:pPr lvl="1"/>
            <a:r>
              <a:rPr lang="pt-BR" dirty="0"/>
              <a:t>Acessar o </a:t>
            </a:r>
            <a:r>
              <a:rPr lang="pt-BR" dirty="0" err="1"/>
              <a:t>bucket</a:t>
            </a:r>
            <a:r>
              <a:rPr lang="pt-BR" dirty="0"/>
              <a:t> criado </a:t>
            </a:r>
          </a:p>
          <a:p>
            <a:pPr lvl="1"/>
            <a:r>
              <a:rPr lang="pt-BR" dirty="0"/>
              <a:t>Ir na aba </a:t>
            </a:r>
            <a:r>
              <a:rPr lang="pt-BR" b="1" dirty="0"/>
              <a:t>Permissões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Localizar </a:t>
            </a:r>
            <a:r>
              <a:rPr lang="pt-BR" b="1" dirty="0"/>
              <a:t>Política do </a:t>
            </a:r>
            <a:r>
              <a:rPr lang="pt-BR" b="1" dirty="0" err="1"/>
              <a:t>bucket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Clicar em </a:t>
            </a:r>
            <a:r>
              <a:rPr lang="pt-BR" b="1" dirty="0"/>
              <a:t>Editar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Inserir a política em formato JSON </a:t>
            </a:r>
          </a:p>
          <a:p>
            <a:pPr lvl="1"/>
            <a:r>
              <a:rPr lang="pt-BR" dirty="0"/>
              <a:t>Salvar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4825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3EB9-F255-A3E5-2338-22A19294D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87838-287C-24ED-BE43-2B381B758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07F613-15FD-FD9F-0F94-B6C92FC85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Política de acesso (JSON)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{ 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"Version"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"2012-10-17"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"Statement"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"Sid"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PublicRead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"Effect"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"Allow"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"Principal"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"Action"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"s3:GetObject"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"Resource"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"arn:aws:s3:::SEU_BUCKET/*"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2637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B5785-6417-144A-D801-B4F86DE81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E9BA1-D971-DF38-3BEF-42C6B59B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</a:t>
            </a:r>
            <a:r>
              <a:rPr lang="pt-BR" dirty="0" err="1"/>
              <a:t>bucket</a:t>
            </a:r>
            <a:r>
              <a:rPr lang="pt-BR" dirty="0"/>
              <a:t>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1BA449-350B-F4AA-96B5-26A962697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41343"/>
          </a:xfrm>
        </p:spPr>
        <p:txBody>
          <a:bodyPr>
            <a:normAutofit/>
          </a:bodyPr>
          <a:lstStyle/>
          <a:p>
            <a:r>
              <a:rPr lang="pt-BR" b="1" dirty="0"/>
              <a:t>Explicação</a:t>
            </a:r>
          </a:p>
          <a:p>
            <a:pPr lvl="1"/>
            <a:r>
              <a:rPr lang="pt-BR" dirty="0" err="1"/>
              <a:t>Version</a:t>
            </a:r>
            <a:r>
              <a:rPr lang="pt-BR" dirty="0"/>
              <a:t> → versão da política (padrão da AWS) </a:t>
            </a:r>
          </a:p>
          <a:p>
            <a:pPr lvl="1"/>
            <a:r>
              <a:rPr lang="pt-BR" dirty="0" err="1"/>
              <a:t>Statement</a:t>
            </a:r>
            <a:r>
              <a:rPr lang="pt-BR" dirty="0"/>
              <a:t> → conjunto de regras </a:t>
            </a:r>
          </a:p>
          <a:p>
            <a:pPr lvl="1"/>
            <a:r>
              <a:rPr lang="pt-BR" dirty="0" err="1"/>
              <a:t>Effect</a:t>
            </a:r>
            <a:r>
              <a:rPr lang="pt-BR" dirty="0"/>
              <a:t> → permite acesso (</a:t>
            </a:r>
            <a:r>
              <a:rPr lang="pt-BR" dirty="0" err="1"/>
              <a:t>Allow</a:t>
            </a:r>
            <a:r>
              <a:rPr lang="pt-BR" dirty="0"/>
              <a:t>) </a:t>
            </a:r>
          </a:p>
          <a:p>
            <a:pPr lvl="1"/>
            <a:r>
              <a:rPr lang="pt-BR" dirty="0"/>
              <a:t>Principal → quem pode acessar ("*" = qualquer pessoa) </a:t>
            </a:r>
          </a:p>
          <a:p>
            <a:pPr lvl="1"/>
            <a:r>
              <a:rPr lang="pt-BR" dirty="0" err="1"/>
              <a:t>Action</a:t>
            </a:r>
            <a:r>
              <a:rPr lang="pt-BR" dirty="0"/>
              <a:t> → ação permitida (ler arquivos) </a:t>
            </a:r>
          </a:p>
          <a:p>
            <a:pPr lvl="1"/>
            <a:r>
              <a:rPr lang="pt-BR" dirty="0" err="1"/>
              <a:t>Resource</a:t>
            </a:r>
            <a:r>
              <a:rPr lang="pt-BR" dirty="0"/>
              <a:t> → onde a regra se aplica (todos os arquivos do </a:t>
            </a:r>
            <a:r>
              <a:rPr lang="pt-BR" dirty="0" err="1"/>
              <a:t>bucke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4195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9D265-69B7-F57C-C34F-78826DC7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58A3F-C8D9-9A36-BBA4-2DB936C3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pasta no </a:t>
            </a:r>
            <a:r>
              <a:rPr lang="pt-BR" dirty="0" err="1"/>
              <a:t>bucket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24BF5-26B7-DD1D-7A0A-50FD663D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413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• Acesse o </a:t>
            </a:r>
            <a:r>
              <a:rPr lang="pt-BR" dirty="0" err="1"/>
              <a:t>bucket</a:t>
            </a:r>
            <a:r>
              <a:rPr lang="pt-BR" dirty="0"/>
              <a:t> criado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pasta</a:t>
            </a:r>
            <a:br>
              <a:rPr lang="pt-BR" dirty="0"/>
            </a:br>
            <a:r>
              <a:rPr lang="pt-BR" dirty="0"/>
              <a:t>• Nome da pasta:</a:t>
            </a:r>
          </a:p>
          <a:p>
            <a:pPr marL="0" indent="0">
              <a:buNone/>
            </a:pPr>
            <a:r>
              <a:rPr lang="pt-BR" dirty="0"/>
              <a:t>	uploads</a:t>
            </a:r>
          </a:p>
          <a:p>
            <a:pPr marL="0" indent="0">
              <a:buNone/>
            </a:pPr>
            <a:r>
              <a:rPr lang="pt-BR" dirty="0"/>
              <a:t>• Essa pasta será usada para armazenar as imagens enviadas</a:t>
            </a:r>
          </a:p>
        </p:txBody>
      </p:sp>
    </p:spTree>
    <p:extLst>
      <p:ext uri="{BB962C8B-B14F-4D97-AF65-F5344CB8AC3E}">
        <p14:creationId xmlns:p14="http://schemas.microsoft.com/office/powerpoint/2010/main" val="376071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8726A-3E57-90B7-2D4E-19E54130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95F45-C018-E94F-420C-3E923992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Upload manual (teste)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19F591-D0C0-03BD-0C4E-1DB69A6E6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• Clique em </a:t>
            </a:r>
            <a:r>
              <a:rPr lang="pt-BR" b="1" dirty="0"/>
              <a:t>Upload</a:t>
            </a:r>
            <a:br>
              <a:rPr lang="pt-BR" dirty="0"/>
            </a:br>
            <a:r>
              <a:rPr lang="pt-BR" dirty="0"/>
              <a:t>• Selecione uma imagem</a:t>
            </a:r>
            <a:br>
              <a:rPr lang="pt-BR" dirty="0"/>
            </a:br>
            <a:r>
              <a:rPr lang="pt-BR" dirty="0"/>
              <a:t>• Envie para a pasta uploads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384002-B955-9A80-8DEE-9AAC497B1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9" t="10389" b="25085"/>
          <a:stretch>
            <a:fillRect/>
          </a:stretch>
        </p:blipFill>
        <p:spPr>
          <a:xfrm>
            <a:off x="914401" y="3210232"/>
            <a:ext cx="9920748" cy="364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59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1C579-8828-B537-93DC-06125133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D13C4-C5E6-1235-0144-F913189B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Testando acesso pela URL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F70378-E5C6-4114-F672-703FC9C83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2414"/>
          </a:xfrm>
        </p:spPr>
        <p:txBody>
          <a:bodyPr>
            <a:normAutofit/>
          </a:bodyPr>
          <a:lstStyle/>
          <a:p>
            <a:r>
              <a:rPr lang="pt-BR" dirty="0"/>
              <a:t>Após o upload, acesse a imagem pelo navegador:</a:t>
            </a:r>
          </a:p>
          <a:p>
            <a:pPr lvl="1"/>
            <a:r>
              <a:rPr lang="pt-BR" dirty="0">
                <a:hlinkClick r:id="rId2"/>
              </a:rPr>
              <a:t>https://SEU_BUCKET.s3.amazonaws.com/uploads/imagem.jpg</a:t>
            </a:r>
            <a:endParaRPr lang="pt-BR" dirty="0"/>
          </a:p>
          <a:p>
            <a:r>
              <a:rPr lang="pt-BR" dirty="0"/>
              <a:t>Se abrir → configuração correta ✅</a:t>
            </a:r>
          </a:p>
          <a:p>
            <a:r>
              <a:rPr lang="pt-BR" dirty="0"/>
              <a:t>Arquivo já está acessível pela internet</a:t>
            </a:r>
          </a:p>
        </p:txBody>
      </p:sp>
    </p:spTree>
    <p:extLst>
      <p:ext uri="{BB962C8B-B14F-4D97-AF65-F5344CB8AC3E}">
        <p14:creationId xmlns:p14="http://schemas.microsoft.com/office/powerpoint/2010/main" val="1367013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CCE73-8F67-2D80-063D-44A7FD47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Integração com </a:t>
            </a:r>
            <a:r>
              <a:rPr lang="pt-BR" dirty="0" err="1"/>
              <a:t>Flask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43C735-5674-D0E3-8238-5F96D36B2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480904"/>
          </a:xfrm>
        </p:spPr>
        <p:txBody>
          <a:bodyPr/>
          <a:lstStyle/>
          <a:p>
            <a:r>
              <a:rPr lang="pt-BR" dirty="0"/>
              <a:t>Agora vamos automatizar o envio de arquivos:</a:t>
            </a:r>
          </a:p>
          <a:p>
            <a:r>
              <a:rPr lang="pt-BR" dirty="0"/>
              <a:t>Fluxo:</a:t>
            </a:r>
          </a:p>
          <a:p>
            <a:pPr marL="457200" lvl="1" indent="0">
              <a:buNone/>
            </a:pPr>
            <a:r>
              <a:rPr lang="pt-BR" dirty="0"/>
              <a:t>• Usuário envia imagem pelo formulário</a:t>
            </a:r>
            <a:br>
              <a:rPr lang="pt-BR" dirty="0"/>
            </a:br>
            <a:r>
              <a:rPr lang="pt-BR" dirty="0"/>
              <a:t>• </a:t>
            </a:r>
            <a:r>
              <a:rPr lang="pt-BR" dirty="0" err="1"/>
              <a:t>Flask</a:t>
            </a:r>
            <a:r>
              <a:rPr lang="pt-BR" dirty="0"/>
              <a:t> recebe o arquivo</a:t>
            </a:r>
            <a:br>
              <a:rPr lang="pt-BR" dirty="0"/>
            </a:br>
            <a:r>
              <a:rPr lang="pt-BR" dirty="0"/>
              <a:t>• </a:t>
            </a:r>
            <a:r>
              <a:rPr lang="pt-BR" dirty="0" err="1"/>
              <a:t>Backend</a:t>
            </a:r>
            <a:r>
              <a:rPr lang="pt-BR" dirty="0"/>
              <a:t> envia para o S3</a:t>
            </a:r>
            <a:br>
              <a:rPr lang="pt-BR" dirty="0"/>
            </a:br>
            <a:r>
              <a:rPr lang="pt-BR" dirty="0"/>
              <a:t>• Arquivo é salvo na pasta uploads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2451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D3818-5130-9CBD-FE51-8563DFAF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0BE09-4335-255B-6BC5-7FDE4C59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EF7DC5-47DE-F056-4342-41494A50D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5" y="1589650"/>
            <a:ext cx="11678265" cy="4903225"/>
          </a:xfrm>
        </p:spPr>
        <p:txBody>
          <a:bodyPr numCol="3"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boto3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s3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boto3.client(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"s3"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aws_access_key_id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"AKIATMNINONFL7DGLBE5"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aws_secret_access_key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"L3AfS0YTHGeDISNRk2MItgvCLdGznTlV4Wi6wzh8"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region_name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"us-east-1"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"/upload"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upload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Entrou na rota /upload"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request.method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Método POST"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arquivo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request.files.get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"imagem"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Arquivo recebido: 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arquivo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arquivo </a:t>
            </a:r>
            <a:r>
              <a:rPr lang="pt-BR" sz="9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arquivo.filename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Nome do arquivo: 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arquivo.filename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caminho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"uploads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arquivo.filename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Enviando para S3: 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caminho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s3.upload_fileobj(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arquivo,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BUCKET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    caminho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Upload realizado com sucesso!"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"https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BUCKET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.s3.amazonaws.com/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caminho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URL: 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"Upload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feito! &lt;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&gt;&lt;a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='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 target='_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'&gt;Abrir imagem&lt;/a&gt;"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e: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ERRO: 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"Erro no upload"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"&gt;&gt;&gt; Método GET"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'''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&lt;h2&gt;Upload de imagem&lt;/h2&gt;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&lt;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="POST"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enctype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multipart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form-data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&lt;input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="file"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="imagem"&gt;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    &lt;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"&gt;Enviar&lt;/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    &lt;/</a:t>
            </a:r>
            <a:r>
              <a:rPr lang="pt-BR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&gt;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pt-BR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  '''</a:t>
            </a: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br>
              <a:rPr lang="pt-BR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pt-BR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85221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E5FC7-5303-B21D-0D12-31DBC9F3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usuário no IAM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06479-7507-71FA-21E1-CFFAA2810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6143"/>
          </a:xfrm>
        </p:spPr>
        <p:txBody>
          <a:bodyPr/>
          <a:lstStyle/>
          <a:p>
            <a:r>
              <a:rPr lang="pt-BR" dirty="0"/>
              <a:t>Acesse o serviço </a:t>
            </a:r>
            <a:r>
              <a:rPr lang="pt-BR" b="1" dirty="0"/>
              <a:t>IAM</a:t>
            </a:r>
            <a:r>
              <a:rPr lang="pt-BR" dirty="0"/>
              <a:t> na AWS</a:t>
            </a:r>
            <a:br>
              <a:rPr lang="pt-BR" dirty="0"/>
            </a:br>
            <a:r>
              <a:rPr lang="pt-BR" dirty="0"/>
              <a:t>• No menu lateral, clique em </a:t>
            </a:r>
            <a:r>
              <a:rPr lang="pt-BR" b="1" dirty="0"/>
              <a:t>Usuários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usuário</a:t>
            </a:r>
            <a:br>
              <a:rPr lang="pt-BR" dirty="0"/>
            </a:br>
            <a:r>
              <a:rPr lang="pt-BR" dirty="0"/>
              <a:t>• Informe um nome para o usuário</a:t>
            </a:r>
          </a:p>
          <a:p>
            <a:r>
              <a:rPr lang="pt-BR" dirty="0"/>
              <a:t>Exemplo:</a:t>
            </a:r>
          </a:p>
          <a:p>
            <a:pPr lvl="1"/>
            <a:r>
              <a:rPr lang="pt-BR" dirty="0"/>
              <a:t>flask-s3-user</a:t>
            </a:r>
          </a:p>
          <a:p>
            <a:r>
              <a:rPr lang="pt-BR" dirty="0"/>
              <a:t>Não é necessário liberar acesso ao console</a:t>
            </a:r>
          </a:p>
        </p:txBody>
      </p:sp>
    </p:spTree>
    <p:extLst>
      <p:ext uri="{BB962C8B-B14F-4D97-AF65-F5344CB8AC3E}">
        <p14:creationId xmlns:p14="http://schemas.microsoft.com/office/powerpoint/2010/main" val="3538368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7C3C-4D45-DA28-D23A-EE571078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2F09EA-6059-84A5-C97F-D7886504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permissões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7FFBB4-AE6C-80B8-478D-507E9C9E3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6143"/>
          </a:xfrm>
        </p:spPr>
        <p:txBody>
          <a:bodyPr/>
          <a:lstStyle/>
          <a:p>
            <a:r>
              <a:rPr lang="pt-BR" dirty="0"/>
              <a:t>Na etapa de permissões, escolha:</a:t>
            </a:r>
          </a:p>
          <a:p>
            <a:r>
              <a:rPr lang="pt-BR" b="1" dirty="0"/>
              <a:t>Anexar políticas diretamente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Pesquise por:</a:t>
            </a:r>
          </a:p>
          <a:p>
            <a:pPr lvl="1"/>
            <a:r>
              <a:rPr lang="pt-BR" dirty="0"/>
              <a:t>AmazonS3FullAccess</a:t>
            </a:r>
          </a:p>
          <a:p>
            <a:r>
              <a:rPr lang="pt-BR" dirty="0"/>
              <a:t>Marque essa política</a:t>
            </a:r>
          </a:p>
          <a:p>
            <a:r>
              <a:rPr lang="pt-BR" dirty="0"/>
              <a:t>Clique em </a:t>
            </a:r>
            <a:r>
              <a:rPr lang="pt-BR" b="1" dirty="0"/>
              <a:t>Próximo</a:t>
            </a:r>
            <a:r>
              <a:rPr lang="pt-BR" dirty="0"/>
              <a:t> e depois em </a:t>
            </a:r>
            <a:r>
              <a:rPr lang="pt-BR" b="1" dirty="0"/>
              <a:t>Criar usuário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2079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FF10-799D-8EB9-F1E6-69820C67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3A7A6-A074-DA29-28C6-B9A3A8AD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permissões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7FC6DB-ACC9-F572-FFF0-59CB00344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6143"/>
          </a:xfrm>
        </p:spPr>
        <p:txBody>
          <a:bodyPr/>
          <a:lstStyle/>
          <a:p>
            <a:r>
              <a:rPr lang="pt-BR" dirty="0"/>
              <a:t>Na etapa de permissões, escolha:</a:t>
            </a:r>
          </a:p>
          <a:p>
            <a:r>
              <a:rPr lang="pt-BR" b="1" dirty="0"/>
              <a:t>Anexar políticas diretamente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Pesquise por:</a:t>
            </a:r>
          </a:p>
          <a:p>
            <a:pPr lvl="1"/>
            <a:r>
              <a:rPr lang="pt-BR" dirty="0"/>
              <a:t>AmazonS3FullAccess</a:t>
            </a:r>
          </a:p>
          <a:p>
            <a:r>
              <a:rPr lang="pt-BR" dirty="0"/>
              <a:t>Marque essa política</a:t>
            </a:r>
          </a:p>
          <a:p>
            <a:r>
              <a:rPr lang="pt-BR" dirty="0"/>
              <a:t>Clique em </a:t>
            </a:r>
            <a:r>
              <a:rPr lang="pt-BR" b="1" dirty="0"/>
              <a:t>Próximo</a:t>
            </a:r>
            <a:r>
              <a:rPr lang="pt-BR" dirty="0"/>
              <a:t> e depois em </a:t>
            </a:r>
            <a:r>
              <a:rPr lang="pt-BR" b="1" dirty="0"/>
              <a:t>Criar usuário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8989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5773-47D2-3A71-DD9B-D02ECDE0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74C88-808C-E2E9-B88D-5CB690DB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chave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56B486-D692-981D-7E27-35EA607C2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5846"/>
          </a:xfrm>
        </p:spPr>
        <p:txBody>
          <a:bodyPr>
            <a:normAutofit/>
          </a:bodyPr>
          <a:lstStyle/>
          <a:p>
            <a:r>
              <a:rPr lang="pt-BR" dirty="0"/>
              <a:t>Após criar o usuário:</a:t>
            </a:r>
          </a:p>
          <a:p>
            <a:r>
              <a:rPr lang="pt-BR" dirty="0"/>
              <a:t>Clique no nome do usuário criado</a:t>
            </a:r>
            <a:br>
              <a:rPr lang="pt-BR" dirty="0"/>
            </a:br>
            <a:r>
              <a:rPr lang="pt-BR" dirty="0"/>
              <a:t>• Acesse a aba </a:t>
            </a:r>
            <a:r>
              <a:rPr lang="pt-BR" b="1" dirty="0"/>
              <a:t>Credenciais de segurança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chave de acesso</a:t>
            </a:r>
            <a:endParaRPr lang="pt-BR" dirty="0"/>
          </a:p>
          <a:p>
            <a:r>
              <a:rPr lang="pt-BR" dirty="0"/>
              <a:t>Na seleção do tipo de uso, escolha:</a:t>
            </a:r>
          </a:p>
          <a:p>
            <a:r>
              <a:rPr lang="pt-BR" b="1" dirty="0"/>
              <a:t>Aplicação em execução em um serviço computacional da AWS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Clique em </a:t>
            </a:r>
            <a:r>
              <a:rPr lang="pt-BR" b="1" dirty="0"/>
              <a:t>Próximo</a:t>
            </a:r>
            <a:br>
              <a:rPr lang="pt-BR" dirty="0"/>
            </a:br>
            <a:r>
              <a:rPr lang="pt-BR" dirty="0"/>
              <a:t>• Ignore a etapa de descrição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chave de acesso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1726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ACD1-1D9B-9998-9D3E-907C7B0A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534A1-92C9-5045-3432-EC0F9AA1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chave de acesso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3F134C-9E33-7D64-86AA-F9FFA7F3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5846"/>
          </a:xfrm>
        </p:spPr>
        <p:txBody>
          <a:bodyPr>
            <a:normAutofit/>
          </a:bodyPr>
          <a:lstStyle/>
          <a:p>
            <a:r>
              <a:rPr lang="pt-BR" dirty="0"/>
              <a:t>Após criar o usuário:</a:t>
            </a:r>
          </a:p>
          <a:p>
            <a:r>
              <a:rPr lang="pt-BR" dirty="0"/>
              <a:t>Clique no nome do usuário criado</a:t>
            </a:r>
            <a:br>
              <a:rPr lang="pt-BR" dirty="0"/>
            </a:br>
            <a:r>
              <a:rPr lang="pt-BR" dirty="0"/>
              <a:t>• Acesse a aba </a:t>
            </a:r>
            <a:r>
              <a:rPr lang="pt-BR" b="1" dirty="0"/>
              <a:t>Credenciais de segurança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chave de acesso</a:t>
            </a:r>
            <a:endParaRPr lang="pt-BR" dirty="0"/>
          </a:p>
          <a:p>
            <a:r>
              <a:rPr lang="pt-BR" dirty="0"/>
              <a:t>Na seleção do tipo de uso, escolha:</a:t>
            </a:r>
          </a:p>
          <a:p>
            <a:r>
              <a:rPr lang="pt-BR" b="1" dirty="0"/>
              <a:t>Aplicação em execução em um serviço computacional da AWS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Clique em </a:t>
            </a:r>
            <a:r>
              <a:rPr lang="pt-BR" b="1" dirty="0"/>
              <a:t>Próximo</a:t>
            </a:r>
            <a:br>
              <a:rPr lang="pt-BR" dirty="0"/>
            </a:br>
            <a:r>
              <a:rPr lang="pt-BR" dirty="0"/>
              <a:t>• Ignore a etapa de descrição</a:t>
            </a:r>
            <a:br>
              <a:rPr lang="pt-BR" dirty="0"/>
            </a:br>
            <a:r>
              <a:rPr lang="pt-BR" dirty="0"/>
              <a:t>• Clique em </a:t>
            </a:r>
            <a:r>
              <a:rPr lang="pt-BR" b="1" dirty="0"/>
              <a:t>Criar chave de acesso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684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7DF83-38F6-135E-ADED-ECC5896A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5B2D0B-3548-08F1-E4A2-C8CB91EA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Copiando as credenciais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93C5B6-349A-F814-AF24-F948769E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3584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Ao finalizar, a AWS exibirá:</a:t>
            </a:r>
          </a:p>
          <a:p>
            <a:r>
              <a:rPr lang="pt-BR" dirty="0"/>
              <a:t>• </a:t>
            </a:r>
            <a:r>
              <a:rPr lang="pt-BR" b="1" dirty="0"/>
              <a:t>Access Key ID</a:t>
            </a:r>
            <a:br>
              <a:rPr lang="pt-BR" dirty="0"/>
            </a:br>
            <a:r>
              <a:rPr lang="pt-BR" dirty="0"/>
              <a:t>• </a:t>
            </a:r>
            <a:r>
              <a:rPr lang="pt-BR" b="1" dirty="0" err="1"/>
              <a:t>Secret</a:t>
            </a:r>
            <a:r>
              <a:rPr lang="pt-BR" b="1" dirty="0"/>
              <a:t> Access Key</a:t>
            </a:r>
            <a:endParaRPr lang="pt-BR" dirty="0"/>
          </a:p>
          <a:p>
            <a:r>
              <a:rPr lang="pt-BR" dirty="0"/>
              <a:t>Essas duas informações serão usadas no código Python para autenticar o acesso ao S3.</a:t>
            </a:r>
          </a:p>
          <a:p>
            <a:r>
              <a:rPr lang="pt-BR" dirty="0"/>
              <a:t>Exemplo de uso:</a:t>
            </a:r>
          </a:p>
          <a:p>
            <a:pPr marL="457200" lvl="1" indent="0">
              <a:buNone/>
            </a:pPr>
            <a:r>
              <a:rPr lang="en-US" dirty="0"/>
              <a:t>s3 = boto3.client(</a:t>
            </a:r>
          </a:p>
          <a:p>
            <a:pPr marL="457200" lvl="1" indent="0">
              <a:buNone/>
            </a:pPr>
            <a:r>
              <a:rPr lang="en-US" dirty="0"/>
              <a:t>    "s3",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aws_access_key_id</a:t>
            </a:r>
            <a:r>
              <a:rPr lang="en-US" dirty="0"/>
              <a:t>="SUA_ACCESS_KEY",</a:t>
            </a:r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dirty="0" err="1"/>
              <a:t>aws_secret_access_key</a:t>
            </a:r>
            <a:r>
              <a:rPr lang="en-US" dirty="0"/>
              <a:t>="SUA_SECRET_KEY"</a:t>
            </a:r>
          </a:p>
          <a:p>
            <a:pPr marL="457200" lvl="1" indent="0">
              <a:buNone/>
            </a:pPr>
            <a:r>
              <a:rPr lang="en-US" dirty="0"/>
              <a:t>)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2014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CDA66-96E4-0FB9-69BE-3CCB315C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C50409-D9CA-2146-7D6E-1BEE62922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</a:t>
            </a:r>
            <a:r>
              <a:rPr lang="pt-BR" b="1" dirty="0" err="1"/>
              <a:t>Secret</a:t>
            </a:r>
            <a:r>
              <a:rPr lang="pt-BR" b="1" dirty="0"/>
              <a:t> Access Key</a:t>
            </a:r>
            <a:r>
              <a:rPr lang="pt-BR" dirty="0"/>
              <a:t> é exibida apenas uma vez</a:t>
            </a:r>
          </a:p>
          <a:p>
            <a:r>
              <a:rPr lang="pt-BR" dirty="0"/>
              <a:t>Se ela for perdida, será necessário criar uma nova chave</a:t>
            </a:r>
          </a:p>
          <a:p>
            <a:r>
              <a:rPr lang="pt-BR" dirty="0"/>
              <a:t>Em projetos reais, o ideal é não deixar essas credenciais fixas no código</a:t>
            </a:r>
          </a:p>
          <a:p>
            <a:r>
              <a:rPr lang="pt-BR" dirty="0"/>
              <a:t>Resumo do processo</a:t>
            </a:r>
          </a:p>
          <a:p>
            <a:pPr lvl="1"/>
            <a:r>
              <a:rPr lang="pt-BR" dirty="0"/>
              <a:t>Criar usuário no IAM</a:t>
            </a:r>
          </a:p>
          <a:p>
            <a:pPr lvl="1"/>
            <a:r>
              <a:rPr lang="pt-BR" dirty="0"/>
              <a:t>Anexar permissão de acesso ao S3</a:t>
            </a:r>
          </a:p>
          <a:p>
            <a:pPr lvl="1"/>
            <a:r>
              <a:rPr lang="pt-BR" dirty="0"/>
              <a:t>Criar chave de acesso</a:t>
            </a:r>
          </a:p>
          <a:p>
            <a:pPr lvl="1"/>
            <a:r>
              <a:rPr lang="pt-BR" dirty="0"/>
              <a:t>Copiar Access Key e </a:t>
            </a:r>
            <a:r>
              <a:rPr lang="pt-BR" dirty="0" err="1"/>
              <a:t>Secret</a:t>
            </a:r>
            <a:r>
              <a:rPr lang="pt-BR" dirty="0"/>
              <a:t> Key</a:t>
            </a:r>
          </a:p>
          <a:p>
            <a:pPr lvl="1"/>
            <a:r>
              <a:rPr lang="pt-BR" dirty="0"/>
              <a:t>Utilizar essas credenciais na aplicação </a:t>
            </a:r>
            <a:r>
              <a:rPr lang="pt-BR" dirty="0" err="1"/>
              <a:t>Flask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4993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EEFD5-B90A-64EF-6ED3-A883C426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35768574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1548</Words>
  <Application>Microsoft Office PowerPoint</Application>
  <PresentationFormat>Widescreen</PresentationFormat>
  <Paragraphs>215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Tema do Office</vt:lpstr>
      <vt:lpstr>Introdução ao Amazon S3</vt:lpstr>
      <vt:lpstr>Sumário</vt:lpstr>
      <vt:lpstr>Amazon S3</vt:lpstr>
      <vt:lpstr>O que são buckets?</vt:lpstr>
      <vt:lpstr>Regras de nome de bucket</vt:lpstr>
      <vt:lpstr>O que são objetos?</vt:lpstr>
      <vt:lpstr>Estrutura no S3</vt:lpstr>
      <vt:lpstr>Integração com aplicações</vt:lpstr>
      <vt:lpstr>Resumo final</vt:lpstr>
      <vt:lpstr>Criando um bucket na prática</vt:lpstr>
      <vt:lpstr>Criando um bucket na prática</vt:lpstr>
      <vt:lpstr>Criando um bucket na prática</vt:lpstr>
      <vt:lpstr>Criando um bucket na prática</vt:lpstr>
      <vt:lpstr>Criando um bucket na prática</vt:lpstr>
      <vt:lpstr>Criando um bucket na prática</vt:lpstr>
      <vt:lpstr>Criando um bucket na prática</vt:lpstr>
      <vt:lpstr>Criando um bucket na prática</vt:lpstr>
      <vt:lpstr>Criando pasta no bucket</vt:lpstr>
      <vt:lpstr>Upload manual (teste)</vt:lpstr>
      <vt:lpstr>Testando acesso pela URL</vt:lpstr>
      <vt:lpstr>Integração com Flask</vt:lpstr>
      <vt:lpstr>Códigos</vt:lpstr>
      <vt:lpstr>Criando usuário no IAM</vt:lpstr>
      <vt:lpstr>Definindo permissões</vt:lpstr>
      <vt:lpstr>Definindo permissões</vt:lpstr>
      <vt:lpstr>Criando chave de acesso</vt:lpstr>
      <vt:lpstr>Criando chave de acesso</vt:lpstr>
      <vt:lpstr>Copiando as credenciais</vt:lpstr>
      <vt:lpstr>Atenção</vt:lpstr>
      <vt:lpstr>Teste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Youth Space</dc:creator>
  <cp:lastModifiedBy>Youth Space</cp:lastModifiedBy>
  <cp:revision>5</cp:revision>
  <dcterms:created xsi:type="dcterms:W3CDTF">2026-04-04T15:01:15Z</dcterms:created>
  <dcterms:modified xsi:type="dcterms:W3CDTF">2026-04-04T21:02:41Z</dcterms:modified>
</cp:coreProperties>
</file>