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BCD644-4092-378D-7BE3-3C56478AFC2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904960A-9B34-FEE8-41D7-307474055E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64CF42C-17A2-EF9B-BFDF-047A23DBD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62B4F2-28FD-64F7-0631-055FFD3800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19EF4AF-7DD4-63F9-AC3B-98F1625894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36416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A3F77CF-CEA8-8380-43B2-93F8FB39BC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5012FBC-4781-FF17-281C-57CEE2A8DF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1A77937-8260-9C0E-EFCC-9811C2CD98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F0A6814-CBF8-1889-07B2-B9478BC2B5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3EB9BC0-16D0-1AF3-DA64-F381ECA669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85264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A18CBE-381E-7F54-113B-4D1CCFF0E8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45111FA-1DFE-5AAE-27C4-A9BE65C854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ED0840B-AF26-F153-1466-F0076AED4B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1E61183-B637-0484-D2EF-F8E010B6A8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13DCCA9-727D-2674-1E8F-0646BDE0B1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7662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1519BBD-A44A-9172-0CA3-8141978769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53EB82-12AB-4404-302A-3D3C15BF90C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FFBCB2AF-061D-C7A7-3DCE-61BAFB0737E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5CF8E1D-04D5-89BE-62C2-1F23A6F849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7ABA567-3CE2-2A24-BE12-A9416947A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0BFB9E5-D1AE-C119-A058-6362E718EA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36918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02C48F2-A315-F4A3-1DEE-ACED44E7DF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D3DE686-6D50-0C9D-0889-0E6BFB05AA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129A7543-7A29-8E51-1128-D54A9623C3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21D7308-EC4D-6DEF-B8B5-CB9A4C0C2D5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E5DB1BFD-F409-2918-B03F-A5217EEEE1C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612D1C0E-5EC3-D577-003D-D7A018F94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6A13D85-FAF8-927E-739B-47ACCE8BBF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976134CB-8D5B-19C8-0923-22AA493F14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590438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E1EE96F-8AF6-FAC0-CE98-D0E5A18025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A2B5306-897A-926B-1FC1-58338F491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02B22686-3F47-3FE6-366E-90E2777A8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E4D28479-6671-AE97-71F4-6C08F64B71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525729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3849237-3E5C-94EA-8A4A-6386A2EFD20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A3C018C6-6648-7C4A-489B-312E11FC0B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830EA51-79A3-A212-04C3-70D7B6EB4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474838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E2B33E-9E61-A2A4-33E9-8E36710B5D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F50E02-ADA3-13F6-FE09-743FFD3A85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5A41191-8F4E-05FA-0600-BD54C92677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0E9FEEA-6621-71D4-9540-81BC15D9C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55A06B3-5580-DF72-9A7E-26BF04834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C6138C3-F025-C09B-A61B-3F4E02130B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11249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ECCFB9-8BB1-1D48-6247-2C03651C22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62207937-8A3E-C6F3-7F58-19863DEF0D9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9BD931B-FE96-9F38-D8F0-069E7B0CA28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0D92DF6-953F-5D30-C355-75D3C3E9D6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E2713EB-71E3-6511-FCC7-CBA6BAFEF1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3C9A0330-CE42-4344-5BA8-114AE85ADC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678150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BBB1E8A-4E6A-3BA1-5705-3CCC076D5F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654A311-C89B-FFE2-FABC-69D8315445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4D27023-10B7-8BC8-00A7-7DC0A5BC73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42D86E5-3D5F-F127-B6FE-EBEB7CA2D6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50E8156-2179-DD5C-DE2F-44C38FC3F6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750053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800D2C3-5510-FF6E-8281-2F82F8BF046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684DAA0-9886-CE61-39D8-87BF4308621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4EEC10A-0C32-E4E9-E4BB-F5B61CAD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2CF5164-4917-978E-369A-E84FA54D7D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D0CACAF-E6D3-6669-BF3B-223D71BB51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14513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5A31C87A-3684-E8DF-6057-657E58F0B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C36D1A-A2D4-81F0-E4DC-A1B2297B54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2BCEA38-76D5-2195-4B84-CA79431B13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6FE5E5F-F42B-4A0A-8269-E071117A42E0}" type="datetimeFigureOut">
              <a:rPr lang="pt-BR" smtClean="0"/>
              <a:t>04/04/2026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0D7BE4-36FC-C8D3-FAD2-5BBA905385E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BE82AD7-F7A6-FEFD-5368-388FC6942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F2E43DB-A434-4196-B0F7-F3BE3D27BB6F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35993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5CE358-4775-177E-FAC8-AFF18BC5D56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pt-BR" dirty="0"/>
              <a:t>Conceitos Fundamentais de Computação em Nuvem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2335086-ED07-3334-31F3-9FE752FC25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690174"/>
            <a:ext cx="9144000" cy="521906"/>
          </a:xfrm>
        </p:spPr>
        <p:txBody>
          <a:bodyPr/>
          <a:lstStyle/>
          <a:p>
            <a:pPr algn="r"/>
            <a:r>
              <a:rPr lang="pt-BR" dirty="0"/>
              <a:t>Prof.: Dionizio Porfírio</a:t>
            </a:r>
          </a:p>
        </p:txBody>
      </p:sp>
    </p:spTree>
    <p:extLst>
      <p:ext uri="{BB962C8B-B14F-4D97-AF65-F5344CB8AC3E}">
        <p14:creationId xmlns:p14="http://schemas.microsoft.com/office/powerpoint/2010/main" val="35694948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A32EFA-80F8-2146-B17F-35E0ACF2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Sumário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00E61E9-E64C-8915-E132-5741D6099B6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pt-BR" dirty="0"/>
              <a:t>O que é Computação em Nuvem? </a:t>
            </a:r>
          </a:p>
          <a:p>
            <a:pPr lvl="1"/>
            <a:r>
              <a:rPr lang="pt-BR" dirty="0"/>
              <a:t>Características Fundamentais;</a:t>
            </a:r>
          </a:p>
          <a:p>
            <a:pPr lvl="1"/>
            <a:r>
              <a:rPr lang="pt-BR" dirty="0"/>
              <a:t>Provedores de Nuvem; </a:t>
            </a:r>
          </a:p>
          <a:p>
            <a:pPr lvl="1"/>
            <a:r>
              <a:rPr lang="pt-BR" dirty="0"/>
              <a:t>Principais Modelos de Implantação.</a:t>
            </a:r>
          </a:p>
          <a:p>
            <a:r>
              <a:rPr lang="pt-BR" dirty="0"/>
              <a:t>Modelos de Serviço – IaaS, PaaS e SaaS</a:t>
            </a:r>
          </a:p>
          <a:p>
            <a:pPr lvl="1"/>
            <a:r>
              <a:rPr lang="pt-BR" dirty="0"/>
              <a:t>Infraestrutura como Serviço (IaaS); </a:t>
            </a:r>
          </a:p>
          <a:p>
            <a:pPr lvl="1"/>
            <a:r>
              <a:rPr lang="pt-BR" dirty="0"/>
              <a:t>Plataforma como Serviço (PaaS); </a:t>
            </a:r>
          </a:p>
          <a:p>
            <a:pPr lvl="1"/>
            <a:r>
              <a:rPr lang="pt-BR" dirty="0"/>
              <a:t>Software como Serviço (SaaS);</a:t>
            </a:r>
          </a:p>
          <a:p>
            <a:r>
              <a:rPr lang="pt-BR" dirty="0"/>
              <a:t>Arquitetura e Benefícios da Nuvem</a:t>
            </a:r>
          </a:p>
          <a:p>
            <a:pPr lvl="1"/>
            <a:r>
              <a:rPr lang="pt-BR" dirty="0"/>
              <a:t>Arquitetura básica de uma solução em nuvem;</a:t>
            </a:r>
          </a:p>
          <a:p>
            <a:pPr lvl="1"/>
            <a:r>
              <a:rPr lang="pt-BR" dirty="0"/>
              <a:t>Vantagens para empresas e desenvolvedores; </a:t>
            </a:r>
          </a:p>
          <a:p>
            <a:pPr lvl="1"/>
            <a:r>
              <a:rPr lang="pt-BR" dirty="0"/>
              <a:t>Casos de uso reais e tendências.</a:t>
            </a:r>
          </a:p>
        </p:txBody>
      </p:sp>
    </p:spTree>
    <p:extLst>
      <p:ext uri="{BB962C8B-B14F-4D97-AF65-F5344CB8AC3E}">
        <p14:creationId xmlns:p14="http://schemas.microsoft.com/office/powerpoint/2010/main" val="15766744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CEB489E-8CF7-0473-9621-1451E20888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 Computação em Nuvem?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D895C51-8596-AAA7-F5AE-FB73102B40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54624" cy="4351338"/>
          </a:xfrm>
        </p:spPr>
        <p:txBody>
          <a:bodyPr/>
          <a:lstStyle/>
          <a:p>
            <a:r>
              <a:rPr lang="pt-BR" dirty="0"/>
              <a:t>A Computação em Nuvem (Cloud </a:t>
            </a:r>
            <a:r>
              <a:rPr lang="pt-BR" dirty="0" err="1"/>
              <a:t>Computing</a:t>
            </a:r>
            <a:r>
              <a:rPr lang="pt-BR" dirty="0"/>
              <a:t>) representa uma das maiores revoluções no acesso e consumo de recursos de tecnologia. Ela mudou a forma como indivíduos e empresas lidam com infraestrutura de TI, permitindo acesso remoto a poderosos recursos de hardware e software, por meio da internet.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8FC801E-5CEE-5DF0-8AE0-643CF2EDDA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5086" y="2371432"/>
            <a:ext cx="3925458" cy="29472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23729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DD5D1A-0C81-CDC0-1944-4EEA3286C1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Características Fundamentais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1418352-F311-0B66-38E6-D319DF4E3F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522720" cy="4351338"/>
          </a:xfrm>
        </p:spPr>
        <p:txBody>
          <a:bodyPr>
            <a:normAutofit fontScale="85000" lnSpcReduction="20000"/>
          </a:bodyPr>
          <a:lstStyle/>
          <a:p>
            <a:r>
              <a:rPr lang="pt-BR" dirty="0"/>
              <a:t>Sob demanda: Recursos são provisionados automaticamente, sem intervenção humana direta.</a:t>
            </a:r>
          </a:p>
          <a:p>
            <a:r>
              <a:rPr lang="pt-BR" dirty="0"/>
              <a:t>Acesso remoto via internet: Os usuários acessam os serviços a partir de qualquer dispositivo conectado.</a:t>
            </a:r>
          </a:p>
          <a:p>
            <a:r>
              <a:rPr lang="pt-BR" dirty="0"/>
              <a:t>Modelo </a:t>
            </a:r>
            <a:r>
              <a:rPr lang="pt-BR" dirty="0" err="1"/>
              <a:t>pay</a:t>
            </a:r>
            <a:r>
              <a:rPr lang="pt-BR" dirty="0"/>
              <a:t>-as-</a:t>
            </a:r>
            <a:r>
              <a:rPr lang="pt-BR" dirty="0" err="1"/>
              <a:t>you</a:t>
            </a:r>
            <a:r>
              <a:rPr lang="pt-BR" dirty="0"/>
              <a:t>-go: Paga-se apenas pelo que se consome.</a:t>
            </a:r>
          </a:p>
          <a:p>
            <a:r>
              <a:rPr lang="pt-BR" dirty="0"/>
              <a:t>Escalabilidade e elasticidade: É possível aumentar ou reduzir os recursos conforme a necessidade.</a:t>
            </a:r>
          </a:p>
          <a:p>
            <a:r>
              <a:rPr lang="pt-BR" dirty="0" err="1"/>
              <a:t>Multilocação</a:t>
            </a:r>
            <a:r>
              <a:rPr lang="pt-BR" dirty="0"/>
              <a:t>: Diversos usuários compartilham a mesma infraestrutura com segurança e isolamento lógico.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4FB9B50-801A-5729-BDC6-4305896D3F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16368" y="1825625"/>
            <a:ext cx="3992880" cy="37945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603801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BE06A1-2009-83EA-396A-44E8711396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Provedores de Nuvem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A6C82B8-6AD0-2BCB-8B95-25A7273841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59407"/>
          </a:xfrm>
        </p:spPr>
        <p:txBody>
          <a:bodyPr/>
          <a:lstStyle/>
          <a:p>
            <a:r>
              <a:rPr lang="pt-BR" dirty="0"/>
              <a:t>A infraestrutura da nuvem é gerenciada por empresas especializadas, chamadas provedores de nuvem, que garantem disponibilidade, segurança, atualização e manutenção dos recursos. Exemplos: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DC5984D-0BA8-31BA-76E6-689211C50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7722" y="3819969"/>
            <a:ext cx="1991003" cy="157184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6635572A-40A5-9488-8F5B-41A26D4429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86182" y="3685032"/>
            <a:ext cx="2267093" cy="1716210"/>
          </a:xfrm>
          <a:prstGeom prst="rect">
            <a:avLst/>
          </a:prstGeom>
        </p:spPr>
      </p:pic>
      <p:pic>
        <p:nvPicPr>
          <p:cNvPr id="9" name="Imagem 8">
            <a:extLst>
              <a:ext uri="{FF2B5EF4-FFF2-40B4-BE49-F238E27FC236}">
                <a16:creationId xmlns:a16="http://schemas.microsoft.com/office/drawing/2014/main" id="{17CC6B55-FCBF-402F-D3A7-730014B9887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10403" y="3781030"/>
            <a:ext cx="2457793" cy="15242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836823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3C5E9E-3B84-3B30-31CE-383D811FE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Principais Modelos de Implantação</a:t>
            </a:r>
          </a:p>
        </p:txBody>
      </p:sp>
      <p:pic>
        <p:nvPicPr>
          <p:cNvPr id="5" name="Espaço Reservado para Conteúdo 4">
            <a:extLst>
              <a:ext uri="{FF2B5EF4-FFF2-40B4-BE49-F238E27FC236}">
                <a16:creationId xmlns:a16="http://schemas.microsoft.com/office/drawing/2014/main" id="{A56CD2A6-3A2E-36E7-58F3-5FD64DF628D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956994" y="1785188"/>
            <a:ext cx="9307224" cy="30103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09811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81ED40-0994-DE82-0CE5-F28F95BCE6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Modelos de Serviço – IaaS, PaaS e SaaS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0DD1AE2-99EB-5C29-56AA-FFA0B93C1C2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3608" y="1999361"/>
            <a:ext cx="5257800" cy="4209415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Após entender como a nuvem é implantada, é hora de compreender como ela é consumida. Os serviços em nuvem são entregues em diferentes níveis de abstração, agrupados em três modelos principais:</a:t>
            </a:r>
          </a:p>
          <a:p>
            <a:pPr lvl="1"/>
            <a:r>
              <a:rPr lang="pt-BR" dirty="0"/>
              <a:t>IaaS – </a:t>
            </a:r>
            <a:r>
              <a:rPr lang="pt-BR" dirty="0" err="1"/>
              <a:t>Infrastructure</a:t>
            </a:r>
            <a:r>
              <a:rPr lang="pt-BR" dirty="0"/>
              <a:t> as a Service;</a:t>
            </a:r>
          </a:p>
          <a:p>
            <a:pPr lvl="1"/>
            <a:r>
              <a:rPr lang="pt-BR" dirty="0"/>
              <a:t>PaaS – Platform as a Service;</a:t>
            </a:r>
          </a:p>
          <a:p>
            <a:pPr lvl="1"/>
            <a:r>
              <a:rPr lang="pt-BR" dirty="0"/>
              <a:t>SaaS – Software as a Service.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9299EE9-A771-5281-2C4E-F118A5C4FBB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0594" y="1999361"/>
            <a:ext cx="5709307" cy="3304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52251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C0FB75C-6DAB-351F-35BE-BA65F2F460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IaaS – Infraestrutura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3607F5D-5E52-6F72-6965-48092795C1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325563"/>
          </a:xfrm>
        </p:spPr>
        <p:txBody>
          <a:bodyPr/>
          <a:lstStyle/>
          <a:p>
            <a:r>
              <a:rPr lang="pt-BR" dirty="0"/>
              <a:t>O modelo IaaS entrega infraestrutura básica de TI como serviço: computação, redes, armazenamento e sistemas operacionais. É o nível mais próximo do hardware, oferecido de forma virtualizada.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BCBF5A6-10CB-86E1-C216-7F1B8270788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02427" y="3429000"/>
            <a:ext cx="442021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15584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BAD4FFE-A25C-0A26-20CD-37F43CD579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IaaS – Infraestrutura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265F2E1-DA00-A59E-CFAC-205167714DA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71160" cy="4351338"/>
          </a:xfrm>
        </p:spPr>
        <p:txBody>
          <a:bodyPr/>
          <a:lstStyle/>
          <a:p>
            <a:pPr algn="just"/>
            <a:r>
              <a:rPr lang="pt-BR" dirty="0"/>
              <a:t>Exemplos de uso Imagine que você vai hospedar um site corporativo. Com IaaS: </a:t>
            </a:r>
          </a:p>
          <a:p>
            <a:pPr lvl="1" algn="just"/>
            <a:r>
              <a:rPr lang="pt-BR" dirty="0"/>
              <a:t>Você contrata uma máquina virtual (VM),</a:t>
            </a:r>
          </a:p>
          <a:p>
            <a:pPr lvl="1" algn="just"/>
            <a:r>
              <a:rPr lang="pt-BR" dirty="0"/>
              <a:t> Escolhe o sistema operacional (ex.: Linux),</a:t>
            </a:r>
          </a:p>
          <a:p>
            <a:pPr lvl="1" algn="just"/>
            <a:r>
              <a:rPr lang="pt-BR" dirty="0"/>
              <a:t>Instala e configura o ambiente (ex.: Apache, PHP, banco de dados),</a:t>
            </a:r>
          </a:p>
          <a:p>
            <a:pPr lvl="1" algn="just"/>
            <a:r>
              <a:rPr lang="pt-BR" dirty="0"/>
              <a:t>E cuida de toda a manutenção de software. 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C3BED93-12AE-7BC1-2268-2C4BD35462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1427" y="2042919"/>
            <a:ext cx="4420217" cy="2772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7966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FC8C40B-AD88-3B5D-7113-CD89C43A47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IaaS – Infraestrutura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0D2B34-CB78-7DA8-AEF0-ADD05957F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452872" cy="4351338"/>
          </a:xfrm>
        </p:spPr>
        <p:txBody>
          <a:bodyPr/>
          <a:lstStyle/>
          <a:p>
            <a:r>
              <a:rPr lang="pt-BR" dirty="0"/>
              <a:t>Responsabilidades: </a:t>
            </a:r>
          </a:p>
          <a:p>
            <a:pPr lvl="1"/>
            <a:r>
              <a:rPr lang="pt-BR" dirty="0"/>
              <a:t>Usuário: sistema operacional, aplicação, dados, segurança do ambiente </a:t>
            </a:r>
          </a:p>
          <a:p>
            <a:pPr lvl="1"/>
            <a:r>
              <a:rPr lang="pt-BR" dirty="0"/>
              <a:t>Provedor: hardware, virtualização, rede física, datacenter.</a:t>
            </a:r>
          </a:p>
          <a:p>
            <a:r>
              <a:rPr lang="pt-BR" dirty="0"/>
              <a:t>Exemplos de soluções IaaS: </a:t>
            </a:r>
          </a:p>
          <a:p>
            <a:pPr lvl="1"/>
            <a:r>
              <a:rPr lang="pt-BR" dirty="0" err="1"/>
              <a:t>Amazon</a:t>
            </a:r>
            <a:r>
              <a:rPr lang="pt-BR" dirty="0"/>
              <a:t> EC2;</a:t>
            </a:r>
          </a:p>
          <a:p>
            <a:pPr lvl="1"/>
            <a:r>
              <a:rPr lang="pt-BR" dirty="0"/>
              <a:t>Microsoft Azure Virtual </a:t>
            </a:r>
            <a:r>
              <a:rPr lang="pt-BR" dirty="0" err="1"/>
              <a:t>Machines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Google Compute </a:t>
            </a:r>
            <a:r>
              <a:rPr lang="pt-BR" dirty="0" err="1"/>
              <a:t>Engine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12D452A-8FDE-6E78-ADFA-072CF4F3F5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6195" y="2101105"/>
            <a:ext cx="4647877" cy="2853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454849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1E7FD7F-44C0-D5C6-CD21-850035DDDF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PaaS – Plataforma como Serviço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918107E-5A0C-4B7A-525B-7E8B35B6E8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749679"/>
          </a:xfrm>
        </p:spPr>
        <p:txBody>
          <a:bodyPr/>
          <a:lstStyle/>
          <a:p>
            <a:r>
              <a:rPr lang="pt-BR" dirty="0"/>
              <a:t>O modelo PaaS (Platform as a Service) fornece uma plataforma completa para desenvolvimento, execução e gerenciamento de aplicações sem a complexidade de criar e manter a infraestrutura tradicional.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C1914D03-0A10-F056-6B02-61ECA3B327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08248" y="3429000"/>
            <a:ext cx="4547616" cy="29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117830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4FBE2F1-772E-6231-1A2B-3DCB86934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PaaS – Plataforma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4B28467-449A-F06D-C448-CBA013CC75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904232" cy="4351338"/>
          </a:xfrm>
        </p:spPr>
        <p:txBody>
          <a:bodyPr/>
          <a:lstStyle/>
          <a:p>
            <a:r>
              <a:rPr lang="pt-BR" dirty="0"/>
              <a:t>Características do PaaS: </a:t>
            </a:r>
          </a:p>
          <a:p>
            <a:pPr lvl="1"/>
            <a:r>
              <a:rPr lang="pt-BR" dirty="0"/>
              <a:t>Ambiente </a:t>
            </a:r>
            <a:r>
              <a:rPr lang="pt-BR" dirty="0" err="1"/>
              <a:t>pré</a:t>
            </a:r>
            <a:r>
              <a:rPr lang="pt-BR" dirty="0"/>
              <a:t>-configurado;</a:t>
            </a:r>
          </a:p>
          <a:p>
            <a:pPr lvl="1"/>
            <a:r>
              <a:rPr lang="pt-BR" dirty="0"/>
              <a:t>Foco em produtividade;</a:t>
            </a:r>
          </a:p>
          <a:p>
            <a:pPr lvl="1"/>
            <a:r>
              <a:rPr lang="pt-BR" dirty="0"/>
              <a:t>Hospedagem automatizada;</a:t>
            </a:r>
          </a:p>
          <a:p>
            <a:pPr lvl="1"/>
            <a:r>
              <a:rPr lang="pt-BR" dirty="0"/>
              <a:t>Escalabilidade embutida;</a:t>
            </a:r>
          </a:p>
          <a:p>
            <a:pPr lvl="1"/>
            <a:r>
              <a:rPr lang="pt-BR" dirty="0"/>
              <a:t>Atualizações e manutenção gerenciadas.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FE5396D8-0CB3-3B24-8808-A43644F23B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35496" y="1931217"/>
            <a:ext cx="4547616" cy="29955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993574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6F8E7-EC2D-753F-8A57-0EB27E7FA8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PaaS – Plataforma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2B1D505-0A5F-A362-4D33-F06451918B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Responsabilidades:</a:t>
            </a:r>
          </a:p>
          <a:p>
            <a:pPr lvl="1"/>
            <a:r>
              <a:rPr lang="pt-BR" dirty="0"/>
              <a:t>Cliente: Aplicação (código-fonte), Lógica de negócio e </a:t>
            </a:r>
            <a:r>
              <a:rPr lang="pt-BR" dirty="0" err="1"/>
              <a:t>frontend</a:t>
            </a:r>
            <a:r>
              <a:rPr lang="pt-BR" dirty="0"/>
              <a:t>.</a:t>
            </a:r>
          </a:p>
          <a:p>
            <a:pPr lvl="1"/>
            <a:r>
              <a:rPr lang="pt-BR" dirty="0"/>
              <a:t>Provedor: Hardware, Sistema Operacional, Banco de Dados (opcional), ferramentas de desenvolvimento.</a:t>
            </a:r>
          </a:p>
          <a:p>
            <a:r>
              <a:rPr lang="pt-BR" dirty="0"/>
              <a:t>Exemplos populares de PaaS:</a:t>
            </a:r>
          </a:p>
          <a:p>
            <a:pPr lvl="1"/>
            <a:r>
              <a:rPr lang="pt-BR" dirty="0" err="1"/>
              <a:t>Heroku</a:t>
            </a:r>
            <a:endParaRPr lang="pt-BR" dirty="0"/>
          </a:p>
          <a:p>
            <a:pPr lvl="1"/>
            <a:r>
              <a:rPr lang="pt-BR" dirty="0" err="1"/>
              <a:t>Supabase</a:t>
            </a:r>
            <a:endParaRPr lang="pt-BR" dirty="0"/>
          </a:p>
          <a:p>
            <a:pPr lvl="1"/>
            <a:r>
              <a:rPr lang="pt-BR" dirty="0" err="1"/>
              <a:t>PythonAnywhere</a:t>
            </a:r>
            <a:endParaRPr lang="pt-BR" dirty="0"/>
          </a:p>
          <a:p>
            <a:pPr lvl="1"/>
            <a:r>
              <a:rPr lang="pt-BR" dirty="0" err="1"/>
              <a:t>Vercel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89842730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59D8CD4-896D-41AB-AA6C-72EC756A02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SaaS – Software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E105CA3-BC5D-689B-661F-2DEEB473878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895983"/>
          </a:xfrm>
        </p:spPr>
        <p:txBody>
          <a:bodyPr/>
          <a:lstStyle/>
          <a:p>
            <a:r>
              <a:rPr lang="pt-BR" dirty="0"/>
              <a:t>O modelo SaaS (Software as a Service) permite que o usuário acesse diretamente softwares prontos via internet, sem se preocupar com instalação, manutenção, atualizações ou infraestrutura.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0C26DC3-170C-9143-F4EA-91B0A1F1AA3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6513" y="3559882"/>
            <a:ext cx="4527911" cy="2755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9510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EB791-D727-ADF8-B5F9-420A936E10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SaaS – Software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1DF5472-D4BD-BE1B-76A9-0641B25834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160264" cy="4351338"/>
          </a:xfrm>
        </p:spPr>
        <p:txBody>
          <a:bodyPr/>
          <a:lstStyle/>
          <a:p>
            <a:r>
              <a:rPr lang="pt-BR" dirty="0"/>
              <a:t>Características: </a:t>
            </a:r>
          </a:p>
          <a:p>
            <a:pPr lvl="1"/>
            <a:r>
              <a:rPr lang="pt-BR" dirty="0"/>
              <a:t>Acesso via navegador ou aplicativo; </a:t>
            </a:r>
          </a:p>
          <a:p>
            <a:pPr lvl="1"/>
            <a:r>
              <a:rPr lang="pt-BR" dirty="0"/>
              <a:t>Atualizações automáticas;</a:t>
            </a:r>
          </a:p>
          <a:p>
            <a:pPr lvl="1"/>
            <a:r>
              <a:rPr lang="pt-BR" dirty="0"/>
              <a:t>Armazenamento e dados na nuvem;</a:t>
            </a:r>
          </a:p>
          <a:p>
            <a:pPr lvl="1"/>
            <a:r>
              <a:rPr lang="pt-BR" dirty="0"/>
              <a:t>Redução de custos com infraestrutura e suporte técnico;</a:t>
            </a:r>
          </a:p>
          <a:p>
            <a:pPr lvl="1"/>
            <a:r>
              <a:rPr lang="pt-BR" dirty="0"/>
              <a:t>Multiusuário simultâneo.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06940B6E-FD04-582B-EFA5-D2349E991FF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211" y="2172576"/>
            <a:ext cx="4795589" cy="29334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0468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8CDB336-7CE2-09FD-4F9D-A194364EE9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SaaS – Software como Serviço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BC3FDAA-5965-98B5-FFF8-2794C20424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Responsabilidades: </a:t>
            </a:r>
          </a:p>
          <a:p>
            <a:pPr lvl="1"/>
            <a:r>
              <a:rPr lang="pt-BR" dirty="0"/>
              <a:t>Clientes: Dados do usuário, uso da aplicação.</a:t>
            </a:r>
          </a:p>
          <a:p>
            <a:pPr lvl="1"/>
            <a:r>
              <a:rPr lang="pt-BR" dirty="0"/>
              <a:t>Provedor: Infraestrutura, sistema operacional e </a:t>
            </a:r>
            <a:r>
              <a:rPr lang="pt-BR" dirty="0" err="1"/>
              <a:t>runtime</a:t>
            </a:r>
            <a:r>
              <a:rPr lang="pt-BR" dirty="0"/>
              <a:t>, aplicativo completo. </a:t>
            </a:r>
          </a:p>
          <a:p>
            <a:r>
              <a:rPr lang="pt-BR" dirty="0"/>
              <a:t>Exemplos populares de SaaS: </a:t>
            </a:r>
          </a:p>
          <a:p>
            <a:pPr lvl="1"/>
            <a:r>
              <a:rPr lang="pt-BR" dirty="0"/>
              <a:t>Gmail;</a:t>
            </a:r>
          </a:p>
          <a:p>
            <a:pPr lvl="1"/>
            <a:r>
              <a:rPr lang="pt-BR" dirty="0" err="1"/>
              <a:t>Trell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Zoom;</a:t>
            </a:r>
          </a:p>
          <a:p>
            <a:pPr lvl="1"/>
            <a:r>
              <a:rPr lang="pt-BR" dirty="0"/>
              <a:t>Google </a:t>
            </a:r>
            <a:r>
              <a:rPr lang="pt-BR" dirty="0" err="1"/>
              <a:t>Docs</a:t>
            </a:r>
            <a:endParaRPr lang="pt-BR" dirty="0"/>
          </a:p>
          <a:p>
            <a:pPr lvl="1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6851824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FA36DFC-1FBA-56D8-25BA-BB9EF5E36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Arquitetura e Benefícios da Nuvem - Introdução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55E5C38-BB71-3550-7087-0D7F3A0C53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4465320" cy="4351338"/>
          </a:xfrm>
        </p:spPr>
        <p:txBody>
          <a:bodyPr>
            <a:normAutofit fontScale="92500" lnSpcReduction="10000"/>
          </a:bodyPr>
          <a:lstStyle/>
          <a:p>
            <a:pPr algn="just"/>
            <a:r>
              <a:rPr lang="pt-BR" dirty="0"/>
              <a:t>A computação em nuvem representa mais do que uma mudança na forma de acessar tecnologia; ela representa uma nova arquitetura digital — uma composição inteligente de serviços, camadas e componentes integrados que operam em sincronia, oferecendo flexibilidade, escalabilidade, eficiência operacional e segurança.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E2B5D75-9441-8F33-3614-6EB174BDB3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9074" y="1825625"/>
            <a:ext cx="5174726" cy="32735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74920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A178EFA-FF40-5498-5E94-59736E9709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Visão Geral Arquitetural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7EA9BF4-C9BC-B23B-551D-197C008F2A3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36920" cy="4351338"/>
          </a:xfrm>
        </p:spPr>
        <p:txBody>
          <a:bodyPr/>
          <a:lstStyle/>
          <a:p>
            <a:pPr algn="just"/>
            <a:r>
              <a:rPr lang="pt-BR" dirty="0"/>
              <a:t>Embora existam variações entre os modelos IaaS, PaaS e SaaS, todas as soluções em nuvem compartilham uma estrutura modular, baseada em três grandes camadas:</a:t>
            </a:r>
          </a:p>
          <a:p>
            <a:pPr lvl="1" algn="just"/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 (Interface do Cliente); </a:t>
            </a:r>
          </a:p>
          <a:p>
            <a:pPr lvl="1" algn="just"/>
            <a:r>
              <a:rPr lang="pt-BR" dirty="0"/>
              <a:t>Back-</a:t>
            </a:r>
            <a:r>
              <a:rPr lang="pt-BR" dirty="0" err="1"/>
              <a:t>end</a:t>
            </a:r>
            <a:r>
              <a:rPr lang="pt-BR" dirty="0"/>
              <a:t> (Serviços e Infraestrutura);</a:t>
            </a:r>
          </a:p>
          <a:p>
            <a:pPr lvl="1" algn="just"/>
            <a:r>
              <a:rPr lang="pt-BR" dirty="0"/>
              <a:t>Gestão, Segurança e Conectividade.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20FAE4BD-0C39-293D-03E2-BB4F18C3C2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40949" y="1825625"/>
            <a:ext cx="3555676" cy="37102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594920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8C8EAC4-CF32-62BF-77E3-421D78BD50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Front-</a:t>
            </a:r>
            <a:r>
              <a:rPr lang="pt-BR" dirty="0" err="1"/>
              <a:t>End</a:t>
            </a:r>
            <a:r>
              <a:rPr lang="pt-BR" dirty="0"/>
              <a:t> (Cliente)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B1F2C18-607F-F5E7-35FC-3A2BF14F6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449568" cy="4351338"/>
          </a:xfrm>
        </p:spPr>
        <p:txBody>
          <a:bodyPr/>
          <a:lstStyle/>
          <a:p>
            <a:pPr algn="just"/>
            <a:r>
              <a:rPr lang="pt-BR" dirty="0"/>
              <a:t>Função: Ponto de interação entre o usuário e a aplicação. Exemplos: Navegadores, aplicativos móveis, interfaces web. </a:t>
            </a:r>
          </a:p>
          <a:p>
            <a:pPr lvl="1" algn="just"/>
            <a:r>
              <a:rPr lang="pt-BR" dirty="0"/>
              <a:t>Características:</a:t>
            </a:r>
          </a:p>
          <a:p>
            <a:pPr lvl="1" algn="just"/>
            <a:r>
              <a:rPr lang="pt-BR" dirty="0"/>
              <a:t>Recebe entradas do usuário</a:t>
            </a:r>
          </a:p>
          <a:p>
            <a:pPr lvl="1" algn="just"/>
            <a:r>
              <a:rPr lang="pt-BR" dirty="0"/>
              <a:t>Exibe dados e funcionalidades via UI/UX. </a:t>
            </a:r>
          </a:p>
          <a:p>
            <a:pPr lvl="1" algn="just"/>
            <a:r>
              <a:rPr lang="pt-BR" dirty="0"/>
              <a:t>Se comunica com o </a:t>
            </a:r>
            <a:r>
              <a:rPr lang="pt-BR" dirty="0" err="1"/>
              <a:t>back-end</a:t>
            </a:r>
            <a:r>
              <a:rPr lang="pt-BR" dirty="0"/>
              <a:t> por meio de APIs</a:t>
            </a:r>
          </a:p>
          <a:p>
            <a:pPr lvl="1" algn="just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CB43737-64BB-39F1-28F6-D49852BA0F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11094" y="1941933"/>
            <a:ext cx="3442706" cy="28837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74476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15C54BD-4DCC-8ABA-AF90-4BBC4B8CF7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Back-</a:t>
            </a:r>
            <a:r>
              <a:rPr lang="pt-BR" dirty="0" err="1"/>
              <a:t>End</a:t>
            </a:r>
            <a:endParaRPr lang="pt-BR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64023B7-84AE-B2BE-9114-790885ED52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88264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Função: Onde os dados são processados e as regras de negócio são executadas.</a:t>
            </a:r>
          </a:p>
          <a:p>
            <a:pPr algn="just"/>
            <a:r>
              <a:rPr lang="pt-BR" dirty="0"/>
              <a:t>Componentes: Servidores virtuais; Banco de dados; Aplicações; APIs e </a:t>
            </a:r>
            <a:r>
              <a:rPr lang="pt-BR" dirty="0" err="1"/>
              <a:t>microserviços</a:t>
            </a:r>
            <a:endParaRPr lang="pt-BR" dirty="0"/>
          </a:p>
          <a:p>
            <a:r>
              <a:rPr lang="pt-BR" dirty="0"/>
              <a:t>Responsabilidades:</a:t>
            </a:r>
          </a:p>
          <a:p>
            <a:pPr lvl="1"/>
            <a:r>
              <a:rPr lang="pt-BR" dirty="0"/>
              <a:t>Processar requisições do front-</a:t>
            </a:r>
            <a:r>
              <a:rPr lang="pt-BR" dirty="0" err="1"/>
              <a:t>end</a:t>
            </a:r>
            <a:r>
              <a:rPr lang="pt-BR" dirty="0"/>
              <a:t>;</a:t>
            </a:r>
          </a:p>
          <a:p>
            <a:pPr lvl="1"/>
            <a:r>
              <a:rPr lang="pt-BR" dirty="0"/>
              <a:t>Manter a integridade e segurança dos dados;</a:t>
            </a:r>
          </a:p>
          <a:p>
            <a:pPr lvl="1"/>
            <a:r>
              <a:rPr lang="pt-BR" dirty="0"/>
              <a:t>Executar rotinas críticas de negócio. </a:t>
            </a:r>
          </a:p>
          <a:p>
            <a:pPr lvl="1"/>
            <a:endParaRPr lang="pt-BR" dirty="0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334EE20-2479-8BF9-FBEA-18F785867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18682" y="1825625"/>
            <a:ext cx="3573573" cy="31507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61314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78DF5FB-DF49-0B22-A960-8C20737827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Serviços de Armazenamento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9BF6319-0C8D-CFCC-BB1D-B66F95AACE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772912" cy="3880231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Função: Guardar e recuperar dados estruturados ou não estruturados. </a:t>
            </a:r>
          </a:p>
          <a:p>
            <a:pPr algn="just"/>
            <a:r>
              <a:rPr lang="pt-BR" dirty="0"/>
              <a:t>Exemplos de serviços:</a:t>
            </a:r>
          </a:p>
          <a:p>
            <a:pPr lvl="1" algn="just"/>
            <a:r>
              <a:rPr lang="pt-BR" dirty="0" err="1"/>
              <a:t>Amazon</a:t>
            </a:r>
            <a:r>
              <a:rPr lang="pt-BR" dirty="0"/>
              <a:t> S3 (</a:t>
            </a:r>
            <a:r>
              <a:rPr lang="pt-BR" dirty="0" err="1"/>
              <a:t>Storage</a:t>
            </a:r>
            <a:r>
              <a:rPr lang="pt-BR" dirty="0"/>
              <a:t> Service); </a:t>
            </a:r>
          </a:p>
          <a:p>
            <a:pPr lvl="1" algn="just"/>
            <a:r>
              <a:rPr lang="pt-BR" dirty="0"/>
              <a:t>Azure </a:t>
            </a:r>
            <a:r>
              <a:rPr lang="pt-BR" dirty="0" err="1"/>
              <a:t>Blob</a:t>
            </a:r>
            <a:r>
              <a:rPr lang="pt-BR" dirty="0"/>
              <a:t> </a:t>
            </a:r>
            <a:r>
              <a:rPr lang="pt-BR" dirty="0" err="1"/>
              <a:t>Storage</a:t>
            </a:r>
            <a:r>
              <a:rPr lang="pt-BR" dirty="0"/>
              <a:t>.</a:t>
            </a:r>
          </a:p>
          <a:p>
            <a:pPr algn="just"/>
            <a:r>
              <a:rPr lang="pt-BR" dirty="0"/>
              <a:t>Tipos de dados: </a:t>
            </a:r>
          </a:p>
          <a:p>
            <a:pPr lvl="1" algn="just"/>
            <a:r>
              <a:rPr lang="pt-BR" dirty="0"/>
              <a:t>Documentos, imagens, vídeos;</a:t>
            </a:r>
          </a:p>
          <a:p>
            <a:pPr lvl="1" algn="just"/>
            <a:r>
              <a:rPr lang="pt-BR" dirty="0"/>
              <a:t>Logs de aplicação;</a:t>
            </a:r>
          </a:p>
          <a:p>
            <a:pPr lvl="1" algn="just"/>
            <a:r>
              <a:rPr lang="pt-BR" dirty="0"/>
              <a:t>Backups e snapshots.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7A8CE2E8-4D6D-B328-F858-CECE91E17A3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8948" y="2838335"/>
            <a:ext cx="5600793" cy="2136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04620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AE4724-D62E-F32C-5439-9E4CB71E8E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Rede e Conectividade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3C7A2D-0DF2-F72F-BBAD-4BA61627C7F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6641592" cy="4351338"/>
          </a:xfrm>
        </p:spPr>
        <p:txBody>
          <a:bodyPr/>
          <a:lstStyle/>
          <a:p>
            <a:r>
              <a:rPr lang="pt-BR" dirty="0"/>
              <a:t>Função: Interligar os componentes entre si e com os usuários. </a:t>
            </a:r>
          </a:p>
          <a:p>
            <a:r>
              <a:rPr lang="pt-BR" dirty="0"/>
              <a:t>Tecnologias envolvidas: </a:t>
            </a:r>
            <a:r>
              <a:rPr lang="pt-BR" dirty="0" err="1"/>
              <a:t>Load</a:t>
            </a:r>
            <a:r>
              <a:rPr lang="pt-BR" dirty="0"/>
              <a:t> </a:t>
            </a:r>
            <a:r>
              <a:rPr lang="pt-BR" dirty="0" err="1"/>
              <a:t>balancers</a:t>
            </a:r>
            <a:r>
              <a:rPr lang="pt-BR" dirty="0"/>
              <a:t>; Gateways de API; Redes definidas por software (SDN); Redes privadas virtuais (VPN). </a:t>
            </a:r>
          </a:p>
          <a:p>
            <a:r>
              <a:rPr lang="pt-BR" dirty="0"/>
              <a:t>Importância: </a:t>
            </a:r>
          </a:p>
          <a:p>
            <a:pPr lvl="1"/>
            <a:r>
              <a:rPr lang="pt-BR" dirty="0"/>
              <a:t>Garante latência reduzida;</a:t>
            </a:r>
          </a:p>
          <a:p>
            <a:pPr lvl="1"/>
            <a:r>
              <a:rPr lang="pt-BR" dirty="0"/>
              <a:t>Viabiliza escalabilidade horizontal;</a:t>
            </a:r>
          </a:p>
          <a:p>
            <a:pPr lvl="1"/>
            <a:r>
              <a:rPr lang="pt-BR" dirty="0"/>
              <a:t>Protege o tráfego com criptografia.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A133B84-24BC-4B97-045C-ECE4B1F15D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61184" y="2408918"/>
            <a:ext cx="3654939" cy="2766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72152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AA2373-B53E-04F1-67D6-46675C5AB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Gerenciamento e Automação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BFE6672-2A8A-C137-C6A4-93E3457864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17576" y="1880489"/>
            <a:ext cx="6751320" cy="4351338"/>
          </a:xfrm>
        </p:spPr>
        <p:txBody>
          <a:bodyPr>
            <a:normAutofit fontScale="92500"/>
          </a:bodyPr>
          <a:lstStyle/>
          <a:p>
            <a:pPr algn="just"/>
            <a:r>
              <a:rPr lang="pt-BR" dirty="0"/>
              <a:t>Função: Operar e monitorar os recursos da nuvem de forma inteligente.</a:t>
            </a:r>
          </a:p>
          <a:p>
            <a:pPr algn="just"/>
            <a:r>
              <a:rPr lang="pt-BR" dirty="0"/>
              <a:t>Recursos comuns:</a:t>
            </a:r>
          </a:p>
          <a:p>
            <a:pPr lvl="1" algn="just"/>
            <a:r>
              <a:rPr lang="pt-BR" dirty="0"/>
              <a:t>Monitoramento (</a:t>
            </a:r>
            <a:r>
              <a:rPr lang="pt-BR" dirty="0" err="1"/>
              <a:t>CloudWatch</a:t>
            </a:r>
            <a:r>
              <a:rPr lang="pt-BR" dirty="0"/>
              <a:t>, Azure Monitor);</a:t>
            </a:r>
          </a:p>
          <a:p>
            <a:pPr lvl="1" algn="just"/>
            <a:r>
              <a:rPr lang="pt-BR" dirty="0"/>
              <a:t>Escalabilidade automática (Auto </a:t>
            </a:r>
            <a:r>
              <a:rPr lang="pt-BR" dirty="0" err="1"/>
              <a:t>Scaling</a:t>
            </a:r>
            <a:r>
              <a:rPr lang="pt-BR" dirty="0"/>
              <a:t> </a:t>
            </a:r>
            <a:r>
              <a:rPr lang="pt-BR" dirty="0" err="1"/>
              <a:t>Groups</a:t>
            </a:r>
            <a:r>
              <a:rPr lang="pt-BR" dirty="0"/>
              <a:t>);</a:t>
            </a:r>
          </a:p>
          <a:p>
            <a:pPr lvl="1" algn="just"/>
            <a:r>
              <a:rPr lang="pt-BR" dirty="0"/>
              <a:t>Provisionamento por scripts (</a:t>
            </a:r>
            <a:r>
              <a:rPr lang="pt-BR" dirty="0" err="1"/>
              <a:t>Terraform</a:t>
            </a:r>
            <a:r>
              <a:rPr lang="pt-BR" dirty="0"/>
              <a:t>, ARM </a:t>
            </a:r>
            <a:r>
              <a:rPr lang="pt-BR" dirty="0" err="1"/>
              <a:t>templates</a:t>
            </a:r>
            <a:r>
              <a:rPr lang="pt-BR" dirty="0"/>
              <a:t>);</a:t>
            </a:r>
          </a:p>
          <a:p>
            <a:pPr lvl="1" algn="just"/>
            <a:r>
              <a:rPr lang="it-IT" dirty="0"/>
              <a:t>Deploy contínuo (CI/CD pipelines).</a:t>
            </a:r>
          </a:p>
          <a:p>
            <a:pPr algn="just"/>
            <a:r>
              <a:rPr lang="pt-BR" dirty="0"/>
              <a:t>Reduz necessidade de intervenção humana e evita </a:t>
            </a:r>
            <a:r>
              <a:rPr lang="pt-BR" dirty="0" err="1"/>
              <a:t>downtime</a:t>
            </a:r>
            <a:r>
              <a:rPr lang="pt-BR" dirty="0"/>
              <a:t>.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70A38DC-1635-2EE9-DA07-71521DC7524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91166" y="2478430"/>
            <a:ext cx="4300398" cy="25777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719761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1399DB4-00FD-B24B-FBB3-4231DB811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Segurança e Autenticação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4B80333-5F52-2499-2EC7-D769A30E614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562600" cy="4351338"/>
          </a:xfrm>
        </p:spPr>
        <p:txBody>
          <a:bodyPr>
            <a:normAutofit lnSpcReduction="10000"/>
          </a:bodyPr>
          <a:lstStyle/>
          <a:p>
            <a:pPr algn="just"/>
            <a:r>
              <a:rPr lang="pt-BR" dirty="0"/>
              <a:t>Função: Proteger dados, usuários e serviços contra acessos não autorizados e ataques.</a:t>
            </a:r>
          </a:p>
          <a:p>
            <a:pPr algn="just"/>
            <a:r>
              <a:rPr lang="pt-BR" dirty="0"/>
              <a:t>Mecanismos utilizados:</a:t>
            </a:r>
          </a:p>
          <a:p>
            <a:pPr lvl="1" algn="just"/>
            <a:r>
              <a:rPr lang="en-US" dirty="0"/>
              <a:t>IAM (Identity and Access Management);</a:t>
            </a:r>
          </a:p>
          <a:p>
            <a:pPr lvl="1" algn="just"/>
            <a:r>
              <a:rPr lang="pt-BR" dirty="0"/>
              <a:t>Criptografia de dados em trânsito e em repouso;</a:t>
            </a:r>
          </a:p>
          <a:p>
            <a:pPr lvl="1" algn="just"/>
            <a:r>
              <a:rPr lang="pt-BR" dirty="0"/>
              <a:t>Firewalls virtuais;</a:t>
            </a:r>
          </a:p>
          <a:p>
            <a:pPr lvl="1" algn="just"/>
            <a:r>
              <a:rPr lang="pt-BR" dirty="0"/>
              <a:t>Autenticação multifator (MFA); </a:t>
            </a:r>
          </a:p>
          <a:p>
            <a:pPr lvl="1" algn="just"/>
            <a:r>
              <a:rPr lang="pt-BR" dirty="0"/>
              <a:t>Políticas de permissão granulares.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E6F665C-0BF4-BFB4-6187-B9C5B6E783F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44958" y="2227328"/>
            <a:ext cx="4761032" cy="30761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081965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C27C19-3AE1-8F8D-C771-86B2F3258B3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Vantagens da Computação em Nuvem 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5C3135B2-DE6F-CB7E-E725-53D2DBB8D2B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Elasticidade e Escalabilidade; </a:t>
            </a:r>
          </a:p>
          <a:p>
            <a:r>
              <a:rPr lang="pt-BR" dirty="0"/>
              <a:t>Redução de Custos; </a:t>
            </a:r>
          </a:p>
          <a:p>
            <a:r>
              <a:rPr lang="pt-BR" dirty="0"/>
              <a:t>Alta Disponibilidade e Confiabilidade; </a:t>
            </a:r>
          </a:p>
          <a:p>
            <a:r>
              <a:rPr lang="pt-BR" dirty="0"/>
              <a:t>Agilidade e Inovação; </a:t>
            </a:r>
          </a:p>
          <a:p>
            <a:r>
              <a:rPr lang="pt-BR" dirty="0"/>
              <a:t>Acesso Global e Colaboração; </a:t>
            </a:r>
          </a:p>
          <a:p>
            <a:r>
              <a:rPr lang="pt-BR" dirty="0"/>
              <a:t>Segurança Escalável. </a:t>
            </a:r>
          </a:p>
          <a:p>
            <a:r>
              <a:rPr lang="pt-BR" dirty="0"/>
              <a:t>Vantagens para os desenvolvedores? Ganham um ambiente flexível, testes em </a:t>
            </a:r>
            <a:r>
              <a:rPr lang="pt-BR" dirty="0" err="1"/>
              <a:t>sandbox</a:t>
            </a:r>
            <a:r>
              <a:rPr lang="pt-BR" dirty="0"/>
              <a:t>, integração contínua e bibliotecas prontas, o que acelera o ciclo de desenvolvimento. </a:t>
            </a:r>
          </a:p>
        </p:txBody>
      </p:sp>
    </p:spTree>
    <p:extLst>
      <p:ext uri="{BB962C8B-B14F-4D97-AF65-F5344CB8AC3E}">
        <p14:creationId xmlns:p14="http://schemas.microsoft.com/office/powerpoint/2010/main" val="106329500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826AE42-ACE9-1153-D1EB-0BD1B4953B1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Casos de Uso Reais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0F543E5-4DF2-0997-E535-2965129BDB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5608320" cy="4351338"/>
          </a:xfrm>
        </p:spPr>
        <p:txBody>
          <a:bodyPr>
            <a:normAutofit fontScale="77500" lnSpcReduction="20000"/>
          </a:bodyPr>
          <a:lstStyle/>
          <a:p>
            <a:r>
              <a:rPr lang="pt-BR" dirty="0"/>
              <a:t>Netflix: usa AWS para escalar o streaming de vídeos com milhões de acessos simultâneos. </a:t>
            </a:r>
          </a:p>
          <a:p>
            <a:r>
              <a:rPr lang="pt-BR" dirty="0"/>
              <a:t>Spotify: usa Google Cloud para personalizar recomendações em tempo real. </a:t>
            </a:r>
          </a:p>
          <a:p>
            <a:r>
              <a:rPr lang="pt-BR" dirty="0"/>
              <a:t>Mercado Livre: adota nuvem para garantir escalabilidade em datas de alto tráfego, como a Black Friday. </a:t>
            </a:r>
          </a:p>
          <a:p>
            <a:r>
              <a:rPr lang="pt-BR" dirty="0"/>
              <a:t>Educação: plataformas como Moodle ou Google </a:t>
            </a:r>
            <a:r>
              <a:rPr lang="pt-BR" dirty="0" err="1"/>
              <a:t>Classroom</a:t>
            </a:r>
            <a:r>
              <a:rPr lang="pt-BR" dirty="0"/>
              <a:t> usam a nuvem para hospedar conteúdos e avaliações. </a:t>
            </a:r>
          </a:p>
          <a:p>
            <a:r>
              <a:rPr lang="pt-BR" dirty="0"/>
              <a:t>Saúde: hospitais utilizam nuvem para armazenar e compartilhar exames com segurança.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FEEF12F9-0041-34AB-488D-E5FD06B5B3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88" y="1775984"/>
            <a:ext cx="2447475" cy="2300360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3FC77603-6760-D027-DA2F-36E3FBBE219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7874" y="4771974"/>
            <a:ext cx="2982516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82078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F7B5298-272D-0189-0F6A-09FC392BF0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Tendências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2CA9974-2A37-F79D-3940-6E6284565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Estamos caminhando para uma computação mais distribuída e inteligente, com destaque para:</a:t>
            </a:r>
          </a:p>
          <a:p>
            <a:pPr lvl="1"/>
            <a:r>
              <a:rPr lang="pt-BR" dirty="0" err="1"/>
              <a:t>Serverless</a:t>
            </a:r>
            <a:r>
              <a:rPr lang="pt-BR" dirty="0"/>
              <a:t> (funções sob demanda); </a:t>
            </a:r>
          </a:p>
          <a:p>
            <a:pPr lvl="1"/>
            <a:r>
              <a:rPr lang="pt-BR" dirty="0"/>
              <a:t>Edge </a:t>
            </a:r>
            <a:r>
              <a:rPr lang="pt-BR" dirty="0" err="1"/>
              <a:t>Computing</a:t>
            </a:r>
            <a:r>
              <a:rPr lang="pt-BR" dirty="0"/>
              <a:t> (processamento mais próximo do usuário); </a:t>
            </a:r>
          </a:p>
          <a:p>
            <a:pPr lvl="1"/>
            <a:r>
              <a:rPr lang="pt-BR" dirty="0"/>
              <a:t>AI como serviço (inteligência artificial acessível pela nuvem); </a:t>
            </a:r>
          </a:p>
          <a:p>
            <a:pPr lvl="1"/>
            <a:r>
              <a:rPr lang="pt-BR" dirty="0"/>
              <a:t>Sustentabilidade (data centers verdes e uso eficiente de energia).</a:t>
            </a:r>
          </a:p>
        </p:txBody>
      </p:sp>
    </p:spTree>
    <p:extLst>
      <p:ext uri="{BB962C8B-B14F-4D97-AF65-F5344CB8AC3E}">
        <p14:creationId xmlns:p14="http://schemas.microsoft.com/office/powerpoint/2010/main" val="2367271859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864B8E-1848-B24E-CC69-1DB4DF5CDF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Atividade	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D7050F1-B276-F405-09CD-D1B56524C6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Continuar a aplicação utilizando </a:t>
            </a:r>
            <a:r>
              <a:rPr lang="pt-BR" dirty="0" err="1"/>
              <a:t>PythonAnywhere</a:t>
            </a:r>
            <a:r>
              <a:rPr lang="pt-BR" dirty="0"/>
              <a:t> e banco de dados no </a:t>
            </a:r>
            <a:r>
              <a:rPr lang="pt-BR" dirty="0" err="1"/>
              <a:t>SupaBase</a:t>
            </a:r>
            <a:endParaRPr lang="pt-BR" dirty="0"/>
          </a:p>
          <a:p>
            <a:pPr lvl="1"/>
            <a:r>
              <a:rPr lang="pt-BR" dirty="0"/>
              <a:t>Finalizar a página de login redirecionando para a página de usuário ou a página administrativa.</a:t>
            </a:r>
          </a:p>
          <a:p>
            <a:pPr lvl="1"/>
            <a:r>
              <a:rPr lang="pt-BR" dirty="0"/>
              <a:t>Fazer um sistema simples de chamados.</a:t>
            </a:r>
          </a:p>
        </p:txBody>
      </p:sp>
    </p:spTree>
    <p:extLst>
      <p:ext uri="{BB962C8B-B14F-4D97-AF65-F5344CB8AC3E}">
        <p14:creationId xmlns:p14="http://schemas.microsoft.com/office/powerpoint/2010/main" val="340123275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71</TotalTime>
  <Words>1324</Words>
  <Application>Microsoft Office PowerPoint</Application>
  <PresentationFormat>Widescreen</PresentationFormat>
  <Paragraphs>159</Paragraphs>
  <Slides>28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2" baseType="lpstr">
      <vt:lpstr>Aptos</vt:lpstr>
      <vt:lpstr>Aptos Display</vt:lpstr>
      <vt:lpstr>Arial</vt:lpstr>
      <vt:lpstr>Tema do Office</vt:lpstr>
      <vt:lpstr>Conceitos Fundamentais de Computação em Nuvem</vt:lpstr>
      <vt:lpstr>Sumário</vt:lpstr>
      <vt:lpstr>O que é Computação em Nuvem? </vt:lpstr>
      <vt:lpstr>Características Fundamentais</vt:lpstr>
      <vt:lpstr>Provedores de Nuvem</vt:lpstr>
      <vt:lpstr>Principais Modelos de Implantação</vt:lpstr>
      <vt:lpstr>Modelos de Serviço – IaaS, PaaS e SaaS</vt:lpstr>
      <vt:lpstr>IaaS – Infraestrutura como Serviço</vt:lpstr>
      <vt:lpstr>IaaS – Infraestrutura como Serviço</vt:lpstr>
      <vt:lpstr>IaaS – Infraestrutura como Serviço</vt:lpstr>
      <vt:lpstr>PaaS – Plataforma como Serviço </vt:lpstr>
      <vt:lpstr>PaaS – Plataforma como Serviço</vt:lpstr>
      <vt:lpstr>PaaS – Plataforma como Serviço</vt:lpstr>
      <vt:lpstr>SaaS – Software como Serviço</vt:lpstr>
      <vt:lpstr>SaaS – Software como Serviço</vt:lpstr>
      <vt:lpstr>SaaS – Software como Serviço</vt:lpstr>
      <vt:lpstr>Arquitetura e Benefícios da Nuvem - Introdução</vt:lpstr>
      <vt:lpstr>Visão Geral Arquitetural</vt:lpstr>
      <vt:lpstr>Front-End (Cliente)</vt:lpstr>
      <vt:lpstr>Back-End</vt:lpstr>
      <vt:lpstr>Serviços de Armazenamento</vt:lpstr>
      <vt:lpstr>Rede e Conectividade</vt:lpstr>
      <vt:lpstr>Gerenciamento e Automação</vt:lpstr>
      <vt:lpstr>Segurança e Autenticação</vt:lpstr>
      <vt:lpstr>Vantagens da Computação em Nuvem </vt:lpstr>
      <vt:lpstr>Casos de Uso Reais</vt:lpstr>
      <vt:lpstr>Tendências</vt:lpstr>
      <vt:lpstr>Atividade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Youth Space</dc:creator>
  <cp:lastModifiedBy>Youth Space</cp:lastModifiedBy>
  <cp:revision>1</cp:revision>
  <dcterms:created xsi:type="dcterms:W3CDTF">2026-04-04T15:01:15Z</dcterms:created>
  <dcterms:modified xsi:type="dcterms:W3CDTF">2026-04-04T16:12:24Z</dcterms:modified>
</cp:coreProperties>
</file>